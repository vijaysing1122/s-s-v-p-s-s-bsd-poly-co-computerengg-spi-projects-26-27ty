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2"/>
  </p:notesMasterIdLst>
  <p:sldIdLst>
    <p:sldId id="256" r:id="rId2"/>
    <p:sldId id="257" r:id="rId3"/>
    <p:sldId id="258" r:id="rId4"/>
    <p:sldId id="259" r:id="rId5"/>
    <p:sldId id="260" r:id="rId6"/>
    <p:sldId id="273" r:id="rId7"/>
    <p:sldId id="274" r:id="rId8"/>
    <p:sldId id="275"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8077A5B-8C0D-40D8-8557-44EC33DBB8F6}" styleName="Table_0">
    <a:wholeTbl>
      <a:tcTxStyle>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Style>
        <a:tcBdr/>
      </a:tcStyle>
    </a:band2H>
    <a:band1V>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a:tcStyle>
        <a:tcBdr/>
      </a:tcStyle>
    </a:lastCol>
    <a:firstCol>
      <a:tcTxStyle b="on"/>
      <a:tcStyle>
        <a:tcBdr/>
      </a:tcStyle>
    </a:firstCol>
    <a:lastRow>
      <a:tcTxStyle b="on"/>
      <a:tcStyle>
        <a:tcBdr>
          <a:top>
            <a:ln w="50800" cap="flat" cmpd="sng">
              <a:solidFill>
                <a:schemeClr val="accent1"/>
              </a:solidFill>
              <a:prstDash val="solid"/>
              <a:round/>
              <a:headEnd type="none" w="sm" len="sm"/>
              <a:tailEnd type="none" w="sm" len="sm"/>
            </a:ln>
          </a:top>
        </a:tcBdr>
      </a:tcStyle>
    </a:lastRow>
    <a:seCell>
      <a:tcStyle>
        <a:tcBdr/>
      </a:tcStyle>
    </a:seCell>
    <a:swCell>
      <a:tcStyle>
        <a:tcBdr/>
      </a:tcStyle>
    </a:swCell>
    <a:firstRow>
      <a:tcTxStyle b="on">
        <a:font>
          <a:latin typeface="Times New Roman"/>
          <a:ea typeface="Times New Roman"/>
          <a:cs typeface="Times New Roman"/>
        </a:font>
        <a:schemeClr val="lt1"/>
      </a:tcTxStyle>
      <a:tcStyle>
        <a:tcBdr/>
        <a:fill>
          <a:solidFill>
            <a:schemeClr val="accent1"/>
          </a:solidFill>
        </a:fill>
      </a:tcStyle>
    </a:firstRow>
    <a:neCell>
      <a:tcStyle>
        <a:tcBdr/>
      </a:tcStyle>
    </a:neCell>
    <a:nwCell>
      <a:tcStyle>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46" d="100"/>
          <a:sy n="46" d="100"/>
        </p:scale>
        <p:origin x="34" y="8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sing rajput" userId="9d1bfd54256b529f" providerId="LiveId" clId="{2678B8BA-4053-432E-928A-EBF5DF20E3B4}"/>
    <pc:docChg chg="modSld">
      <pc:chgData name="vijaysing rajput" userId="9d1bfd54256b529f" providerId="LiveId" clId="{2678B8BA-4053-432E-928A-EBF5DF20E3B4}" dt="2026-10-19T05:40:55.942" v="0" actId="1076"/>
      <pc:docMkLst>
        <pc:docMk/>
      </pc:docMkLst>
      <pc:sldChg chg="modSp mod">
        <pc:chgData name="vijaysing rajput" userId="9d1bfd54256b529f" providerId="LiveId" clId="{2678B8BA-4053-432E-928A-EBF5DF20E3B4}" dt="2026-10-19T05:40:55.942" v="0" actId="1076"/>
        <pc:sldMkLst>
          <pc:docMk/>
          <pc:sldMk cId="0" sldId="257"/>
        </pc:sldMkLst>
        <pc:spChg chg="mod">
          <ac:chgData name="vijaysing rajput" userId="9d1bfd54256b529f" providerId="LiveId" clId="{2678B8BA-4053-432E-928A-EBF5DF20E3B4}" dt="2026-10-19T05:40:55.942" v="0" actId="1076"/>
          <ac:spMkLst>
            <pc:docMk/>
            <pc:sldMk cId="0" sldId="257"/>
            <ac:spMk id="5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panose="020B0604020202020204"/>
              <a:buNone/>
              <a:defRPr>
                <a:solidFill>
                  <a:srgbClr val="002060"/>
                </a:solidFill>
                <a:latin typeface="Times New Roman" panose="02020603050405020304"/>
                <a:ea typeface="Times New Roman" panose="02020603050405020304"/>
                <a:cs typeface="Times New Roman" panose="02020603050405020304"/>
                <a:sym typeface="Times New Roman" panose="02020603050405020304"/>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ct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ct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panose="020B060402020202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panose="020B0604020202020204"/>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panose="020B060402020202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panose="020B060402020202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spcBef>
                <a:spcPts val="0"/>
              </a:spcBef>
              <a:spcAft>
                <a:spcPts val="0"/>
              </a:spcAft>
              <a:buSzPts val="1400"/>
              <a:buNone/>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118476525"/>
              </p:ext>
            </p:extLst>
          </p:nvPr>
        </p:nvGraphicFramePr>
        <p:xfrm>
          <a:off x="381000" y="376518"/>
          <a:ext cx="8382000" cy="6254409"/>
        </p:xfrm>
        <a:graphic>
          <a:graphicData uri="http://schemas.openxmlformats.org/drawingml/2006/table">
            <a:tbl>
              <a:tblPr firstRow="1" bandRow="1">
                <a:noFill/>
                <a:tableStyleId>{98077A5B-8C0D-40D8-8557-44EC33DBB8F6}</a:tableStyleId>
              </a:tblPr>
              <a:tblGrid>
                <a:gridCol w="1432937">
                  <a:extLst>
                    <a:ext uri="{9D8B030D-6E8A-4147-A177-3AD203B41FA5}">
                      <a16:colId xmlns:a16="http://schemas.microsoft.com/office/drawing/2014/main" val="20000"/>
                    </a:ext>
                  </a:extLst>
                </a:gridCol>
                <a:gridCol w="341293">
                  <a:extLst>
                    <a:ext uri="{9D8B030D-6E8A-4147-A177-3AD203B41FA5}">
                      <a16:colId xmlns:a16="http://schemas.microsoft.com/office/drawing/2014/main" val="20001"/>
                    </a:ext>
                  </a:extLst>
                </a:gridCol>
                <a:gridCol w="4065940">
                  <a:extLst>
                    <a:ext uri="{9D8B030D-6E8A-4147-A177-3AD203B41FA5}">
                      <a16:colId xmlns:a16="http://schemas.microsoft.com/office/drawing/2014/main" val="20002"/>
                    </a:ext>
                  </a:extLst>
                </a:gridCol>
                <a:gridCol w="2541830">
                  <a:extLst>
                    <a:ext uri="{9D8B030D-6E8A-4147-A177-3AD203B41FA5}">
                      <a16:colId xmlns:a16="http://schemas.microsoft.com/office/drawing/2014/main" val="20003"/>
                    </a:ext>
                  </a:extLst>
                </a:gridCol>
              </a:tblGrid>
              <a:tr h="2112690">
                <a:tc>
                  <a:txBody>
                    <a:bodyPr/>
                    <a:lstStyle/>
                    <a:p>
                      <a:pPr marL="0" marR="0" lvl="0" indent="0" algn="ctr" rtl="0">
                        <a:spcBef>
                          <a:spcPts val="0"/>
                        </a:spcBef>
                        <a:spcAft>
                          <a:spcPts val="0"/>
                        </a:spcAft>
                        <a:buNone/>
                      </a:pPr>
                      <a:endParaRPr sz="28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algn="ctr"/>
                      <a:r>
                        <a:rPr sz="2800" dirty="0"/>
                        <a:t>S.S.V.P.S’s B. S. </a:t>
                      </a:r>
                      <a:r>
                        <a:rPr sz="2800" dirty="0" err="1"/>
                        <a:t>Deore</a:t>
                      </a:r>
                      <a:r>
                        <a:rPr sz="2800" dirty="0"/>
                        <a:t> Polytechnic, Dhule</a:t>
                      </a:r>
                    </a:p>
                    <a:p>
                      <a:pPr algn="ctr"/>
                      <a:r>
                        <a:rPr sz="2800" dirty="0"/>
                        <a:t>Department of Computer Engineering</a:t>
                      </a:r>
                    </a:p>
                    <a:p>
                      <a:pPr algn="ctr"/>
                      <a:r>
                        <a:rPr sz="2800" dirty="0"/>
                        <a:t>Academic Year : 2026-2027</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957238">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SEMINAR AND PROJECT INITIATION COURSE</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741090">
                <a:tc gridSpan="2">
                  <a:txBody>
                    <a:bodyPr/>
                    <a:lstStyle/>
                    <a:p>
                      <a:pPr marL="0" marR="0" lvl="0" indent="0" algn="l" rtl="0">
                        <a:lnSpc>
                          <a:spcPct val="100000"/>
                        </a:lnSpc>
                        <a:spcBef>
                          <a:spcPts val="0"/>
                        </a:spcBef>
                        <a:spcAft>
                          <a:spcPts val="0"/>
                        </a:spcAft>
                        <a:buClr>
                          <a:srgbClr val="FF0000"/>
                        </a:buClr>
                        <a:buSzPts val="2100"/>
                        <a:buFont typeface="Times New Roman" panose="02020603050405020304"/>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panose="02020603050405020304"/>
                        <a:buNone/>
                      </a:pPr>
                      <a:r>
                        <a:rPr lang="en-US" sz="2400" b="1"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panose="02020603050405020304"/>
                        <a:buNone/>
                      </a:pPr>
                      <a:r>
                        <a:rPr lang="en-US" sz="2100" b="1" u="none" strike="noStrike" cap="none">
                          <a:solidFill>
                            <a:srgbClr val="FF0000"/>
                          </a:solidFill>
                        </a:rPr>
                        <a:t>Date  : </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7142">
                <a:tc gridSpan="4">
                  <a:txBody>
                    <a:bodyPr/>
                    <a:lstStyle/>
                    <a:p>
                      <a:r>
                        <a:rPr sz="2000" b="1" dirty="0"/>
                        <a:t>Topic : Using AI for Fraud Detection in UPI Payments</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07142">
                <a:tc gridSpan="2">
                  <a:txBody>
                    <a:bodyPr/>
                    <a:lstStyle/>
                    <a:p>
                      <a:pPr algn="ctr"/>
                      <a:r>
                        <a:rPr sz="2000" b="1" dirty="0"/>
                        <a:t>Roll No.</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r>
                        <a:rPr sz="2000" b="1" dirty="0"/>
                        <a:t>Name of Student</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07683">
                <a:tc gridSpan="2">
                  <a:txBody>
                    <a:bodyPr/>
                    <a:lstStyle/>
                    <a:p>
                      <a:pPr algn="ctr"/>
                      <a:r>
                        <a:rPr lang="en-IN" sz="2000" dirty="0"/>
                        <a:t>76</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r>
                        <a:rPr lang="en-IN" sz="2000" dirty="0"/>
                        <a:t>Vijaysing Vinod Patil</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06599">
                <a:tc gridSpan="2">
                  <a:txBody>
                    <a:bodyPr/>
                    <a:lstStyle/>
                    <a:p>
                      <a:pPr algn="ctr"/>
                      <a:r>
                        <a:rPr lang="en-IN" sz="2000" dirty="0"/>
                        <a:t>98</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r>
                        <a:rPr lang="en-IN" sz="2000" dirty="0"/>
                        <a:t>Nisha Kailas </a:t>
                      </a:r>
                      <a:r>
                        <a:rPr lang="en-IN" sz="2000" dirty="0" err="1"/>
                        <a:t>Surywanshi</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07142">
                <a:tc gridSpan="2">
                  <a:txBody>
                    <a:bodyPr/>
                    <a:lstStyle/>
                    <a:p>
                      <a:pPr algn="ctr"/>
                      <a:r>
                        <a:rPr lang="en-IN" sz="2000" dirty="0"/>
                        <a:t>65</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r>
                        <a:rPr lang="en-IN" sz="2000" dirty="0"/>
                        <a:t>Lokesh </a:t>
                      </a:r>
                      <a:r>
                        <a:rPr lang="en-IN" sz="2000" dirty="0" err="1"/>
                        <a:t>Mangaldas</a:t>
                      </a:r>
                      <a:r>
                        <a:rPr lang="en-IN" sz="2000" dirty="0"/>
                        <a:t> Patil</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07683">
                <a:tc gridSpan="2">
                  <a:txBody>
                    <a:bodyPr/>
                    <a:lstStyle/>
                    <a:p>
                      <a:pPr algn="ctr"/>
                      <a:r>
                        <a:rPr lang="en-IN" sz="2000" dirty="0"/>
                        <a:t>70</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r>
                        <a:rPr lang="en-IN" sz="2000" dirty="0"/>
                        <a:t>Sagar Govind Patil</a:t>
                      </a:r>
                      <a:endParaRPr sz="20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srcRect/>
          <a:stretch>
            <a:fill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1800" dirty="0"/>
              <a:t>Certificate</a:t>
            </a:r>
          </a:p>
          <a:p>
            <a:r>
              <a:rPr sz="1800" dirty="0"/>
              <a:t>Abstract</a:t>
            </a:r>
          </a:p>
          <a:p>
            <a:r>
              <a:rPr sz="1800" dirty="0"/>
              <a:t>Introduction</a:t>
            </a:r>
          </a:p>
          <a:p>
            <a:r>
              <a:rPr sz="1800" dirty="0"/>
              <a:t>Literature Review</a:t>
            </a:r>
          </a:p>
          <a:p>
            <a:r>
              <a:rPr sz="1800" dirty="0"/>
              <a:t>Information to Seminar Topic</a:t>
            </a:r>
          </a:p>
          <a:p>
            <a:r>
              <a:rPr sz="1800" dirty="0"/>
              <a:t>Advantages and Disadvantages</a:t>
            </a:r>
          </a:p>
          <a:p>
            <a:r>
              <a:rPr sz="1800" dirty="0"/>
              <a:t>Conclusion</a:t>
            </a:r>
          </a:p>
          <a:p>
            <a:r>
              <a:rPr sz="1800" dirty="0"/>
              <a:t>Project Initiation:</a:t>
            </a:r>
          </a:p>
          <a:p>
            <a:r>
              <a:rPr sz="1800" dirty="0"/>
              <a:t>6.1 Description of Problem Statement</a:t>
            </a:r>
          </a:p>
          <a:p>
            <a:r>
              <a:rPr sz="1800" dirty="0"/>
              <a:t>6.2 Scope and Objectives</a:t>
            </a:r>
          </a:p>
          <a:p>
            <a:r>
              <a:rPr sz="1800" dirty="0"/>
              <a:t>6.3 Stakeholders</a:t>
            </a:r>
          </a:p>
          <a:p>
            <a:r>
              <a:rPr sz="1800" dirty="0"/>
              <a:t>6.4 Seminar Execution Plan</a:t>
            </a:r>
          </a:p>
          <a:p>
            <a:r>
              <a:rPr sz="1800" dirty="0"/>
              <a:t>6.5 Platform / Equipment / Resources</a:t>
            </a:r>
          </a:p>
          <a:p>
            <a:r>
              <a:rPr sz="1800" dirty="0"/>
              <a:t>Bibliography</a:t>
            </a:r>
          </a:p>
          <a:p>
            <a:r>
              <a:rPr sz="1800" dirty="0"/>
              <a:t>References</a:t>
            </a:r>
          </a:p>
        </p:txBody>
      </p:sp>
      <p:sp>
        <p:nvSpPr>
          <p:cNvPr id="511" name="Google Shape;511;p14"/>
          <p:cNvSpPr txBox="1">
            <a:spLocks noGrp="1"/>
          </p:cNvSpPr>
          <p:nvPr>
            <p:ph type="title"/>
          </p:nvPr>
        </p:nvSpPr>
        <p:spPr>
          <a:xfrm>
            <a:off x="457200" y="182450"/>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a:t>Contents</a:t>
            </a: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Abstract</a:t>
            </a:r>
          </a:p>
        </p:txBody>
      </p:sp>
      <p:sp>
        <p:nvSpPr>
          <p:cNvPr id="518" name="Google Shape;518;p15"/>
          <p:cNvSpPr txBox="1">
            <a:spLocks noGrp="1"/>
          </p:cNvSpPr>
          <p:nvPr>
            <p:ph type="body" idx="1"/>
          </p:nvPr>
        </p:nvSpPr>
        <p:spPr>
          <a:xfrm>
            <a:off x="457200" y="1219200"/>
            <a:ext cx="8229600" cy="446024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82800" tIns="45700" rIns="82800" bIns="45700" anchor="t" anchorCtr="0">
            <a:normAutofit/>
          </a:bodyPr>
          <a:lstStyle/>
          <a:p>
            <a:r>
              <a:rPr sz="2000" dirty="0"/>
              <a:t>UPI enables fast digital payments, but it can also be misused for fraud. This project explores how Artificial Intelligence (AI) and Machine Learning (ML) can identify suspicious UPI transactions by </a:t>
            </a:r>
            <a:r>
              <a:rPr sz="2000" dirty="0" err="1"/>
              <a:t>analysing</a:t>
            </a:r>
            <a:r>
              <a:rPr sz="2000" dirty="0"/>
              <a:t> transaction amount, frequency, device details, location patterns and transaction history. </a:t>
            </a:r>
            <a:endParaRPr lang="en-IN" sz="2000" dirty="0"/>
          </a:p>
          <a:p>
            <a:r>
              <a:rPr sz="2000" dirty="0"/>
              <a:t>A detection model can assign a risk score and flag unusual activity for further verification. The aim is to support faster fraud detection, reduce financial losses and make digital payments safer. </a:t>
            </a:r>
            <a:endParaRPr lang="en-IN" sz="2000" dirty="0"/>
          </a:p>
          <a:p>
            <a:r>
              <a:rPr sz="2000" dirty="0"/>
              <a:t>Final decisions should include secure verification and human review where required.</a:t>
            </a:r>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3</a:t>
            </a:fld>
            <a:endParaRPr lang="en-US"/>
          </a:p>
        </p:txBody>
      </p:sp>
      <p:sp>
        <p:nvSpPr>
          <p:cNvPr id="2" name="Text Box 1"/>
          <p:cNvSpPr txBox="1"/>
          <p:nvPr/>
        </p:nvSpPr>
        <p:spPr>
          <a:xfrm>
            <a:off x="6810375" y="5614035"/>
            <a:ext cx="3048000" cy="306705"/>
          </a:xfrm>
          <a:prstGeom prst="rect">
            <a:avLst/>
          </a:prstGeom>
          <a:noFill/>
        </p:spPr>
        <p:txBody>
          <a:bodyPr wrap="square" rtlCol="0">
            <a:norm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1. Introduction</a:t>
            </a: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000" dirty="0"/>
              <a:t>UPI is a widely used system for instant digital payments in India.</a:t>
            </a:r>
          </a:p>
          <a:p>
            <a:endParaRPr sz="2000" dirty="0"/>
          </a:p>
          <a:p>
            <a:r>
              <a:rPr sz="2000" dirty="0"/>
              <a:t>Fraud may include phishing, social engineering, fake payment requests and account misuse.</a:t>
            </a:r>
          </a:p>
          <a:p>
            <a:endParaRPr sz="2000" dirty="0"/>
          </a:p>
          <a:p>
            <a:r>
              <a:rPr sz="2000" dirty="0"/>
              <a:t>Traditional rule-based checks may miss new or changing fraud patterns.</a:t>
            </a:r>
          </a:p>
          <a:p>
            <a:endParaRPr sz="2000" dirty="0"/>
          </a:p>
          <a:p>
            <a:r>
              <a:rPr sz="2000" dirty="0"/>
              <a:t>AI can learn from transaction data and identify unusual </a:t>
            </a:r>
            <a:r>
              <a:rPr sz="2000" dirty="0" err="1"/>
              <a:t>behaviour</a:t>
            </a:r>
            <a:r>
              <a:rPr sz="2000" dirty="0"/>
              <a:t>.</a:t>
            </a:r>
          </a:p>
          <a:p>
            <a:endParaRPr sz="2000" dirty="0"/>
          </a:p>
          <a:p>
            <a:r>
              <a:rPr sz="2000" dirty="0"/>
              <a:t>The system can flag risky transactions for additional verification.</a:t>
            </a:r>
          </a:p>
          <a:p>
            <a:endParaRPr sz="2000" dirty="0"/>
          </a:p>
          <a:p>
            <a:r>
              <a:rPr sz="2000" dirty="0"/>
              <a:t>The goal is to improve fraud detection while keeping genuine payments convenient.</a:t>
            </a: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panose="020B0604020202020204"/>
              <a:buNone/>
            </a:pPr>
            <a:r>
              <a:rPr lang="en-US"/>
              <a:t>2. Literature Survey</a:t>
            </a: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5</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170051112"/>
              </p:ext>
            </p:extLst>
          </p:nvPr>
        </p:nvGraphicFramePr>
        <p:xfrm>
          <a:off x="183872" y="1219200"/>
          <a:ext cx="8502929" cy="5245596"/>
        </p:xfrm>
        <a:graphic>
          <a:graphicData uri="http://schemas.openxmlformats.org/drawingml/2006/table">
            <a:tbl>
              <a:tblPr firstRow="1" firstCol="1" bandRow="1">
                <a:tableStyleId>{BC89EF96-8CEA-46FF-86C4-4CE0E7609802}</a:tableStyleId>
              </a:tblPr>
              <a:tblGrid>
                <a:gridCol w="453437">
                  <a:extLst>
                    <a:ext uri="{9D8B030D-6E8A-4147-A177-3AD203B41FA5}">
                      <a16:colId xmlns:a16="http://schemas.microsoft.com/office/drawing/2014/main" val="20000"/>
                    </a:ext>
                  </a:extLst>
                </a:gridCol>
                <a:gridCol w="1432374">
                  <a:extLst>
                    <a:ext uri="{9D8B030D-6E8A-4147-A177-3AD203B41FA5}">
                      <a16:colId xmlns:a16="http://schemas.microsoft.com/office/drawing/2014/main" val="20001"/>
                    </a:ext>
                  </a:extLst>
                </a:gridCol>
                <a:gridCol w="1735948">
                  <a:extLst>
                    <a:ext uri="{9D8B030D-6E8A-4147-A177-3AD203B41FA5}">
                      <a16:colId xmlns:a16="http://schemas.microsoft.com/office/drawing/2014/main" val="20002"/>
                    </a:ext>
                  </a:extLst>
                </a:gridCol>
                <a:gridCol w="1259413">
                  <a:extLst>
                    <a:ext uri="{9D8B030D-6E8A-4147-A177-3AD203B41FA5}">
                      <a16:colId xmlns:a16="http://schemas.microsoft.com/office/drawing/2014/main" val="20003"/>
                    </a:ext>
                  </a:extLst>
                </a:gridCol>
                <a:gridCol w="1647543">
                  <a:extLst>
                    <a:ext uri="{9D8B030D-6E8A-4147-A177-3AD203B41FA5}">
                      <a16:colId xmlns:a16="http://schemas.microsoft.com/office/drawing/2014/main" val="20004"/>
                    </a:ext>
                  </a:extLst>
                </a:gridCol>
                <a:gridCol w="1974214">
                  <a:extLst>
                    <a:ext uri="{9D8B030D-6E8A-4147-A177-3AD203B41FA5}">
                      <a16:colId xmlns:a16="http://schemas.microsoft.com/office/drawing/2014/main" val="20005"/>
                    </a:ext>
                  </a:extLst>
                </a:gridCol>
              </a:tblGrid>
              <a:tr h="58257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000"/>
                  </a:ext>
                </a:extLst>
              </a:tr>
              <a:tr h="1410134">
                <a:tc>
                  <a:txBody>
                    <a:bodyPr/>
                    <a:lstStyle/>
                    <a:p>
                      <a:pPr algn="ctr"/>
                      <a:r>
                        <a:rPr sz="1800" dirty="0">
                          <a:latin typeface="Times New Roman" panose="02020603050405020304" pitchFamily="18" charset="0"/>
                          <a:cs typeface="Times New Roman" panose="02020603050405020304" pitchFamily="18" charset="0"/>
                        </a:rPr>
                        <a:t>1</a:t>
                      </a:r>
                    </a:p>
                  </a:txBody>
                  <a:tcPr marL="18302" marR="18302" marT="16014" marB="16014" anchor="ctr"/>
                </a:tc>
                <a:tc>
                  <a:txBody>
                    <a:bodyPr/>
                    <a:lstStyle/>
                    <a:p>
                      <a:pPr algn="ctr"/>
                      <a:r>
                        <a:rPr sz="1800" dirty="0">
                          <a:latin typeface="Times New Roman" panose="02020603050405020304" pitchFamily="18" charset="0"/>
                          <a:cs typeface="Times New Roman" panose="02020603050405020304" pitchFamily="18" charset="0"/>
                        </a:rPr>
                        <a:t>Rule-Based Fraud Detection</a:t>
                      </a:r>
                    </a:p>
                  </a:txBody>
                  <a:tcPr anchor="ctr"/>
                </a:tc>
                <a:tc>
                  <a:txBody>
                    <a:bodyPr/>
                    <a:lstStyle/>
                    <a:p>
                      <a:pPr algn="ctr"/>
                      <a:r>
                        <a:rPr sz="1800">
                          <a:latin typeface="Times New Roman" panose="02020603050405020304" pitchFamily="18" charset="0"/>
                          <a:cs typeface="Times New Roman" panose="02020603050405020304" pitchFamily="18" charset="0"/>
                        </a:rPr>
                        <a:t>Rules, SQL, transaction monitoring</a:t>
                      </a:r>
                    </a:p>
                  </a:txBody>
                  <a:tcPr anchor="ctr"/>
                </a:tc>
                <a:tc>
                  <a:txBody>
                    <a:bodyPr/>
                    <a:lstStyle/>
                    <a:p>
                      <a:pPr algn="ctr"/>
                      <a:r>
                        <a:rPr sz="1800">
                          <a:latin typeface="Times New Roman" panose="02020603050405020304" pitchFamily="18" charset="0"/>
                          <a:cs typeface="Times New Roman" panose="02020603050405020304" pitchFamily="18" charset="0"/>
                        </a:rPr>
                        <a:t>Amount, time, transaction count</a:t>
                      </a:r>
                    </a:p>
                  </a:txBody>
                  <a:tcPr anchor="ctr"/>
                </a:tc>
                <a:tc>
                  <a:txBody>
                    <a:bodyPr/>
                    <a:lstStyle/>
                    <a:p>
                      <a:pPr algn="ctr"/>
                      <a:r>
                        <a:rPr sz="1800">
                          <a:latin typeface="Times New Roman" panose="02020603050405020304" pitchFamily="18" charset="0"/>
                          <a:cs typeface="Times New Roman" panose="02020603050405020304" pitchFamily="18" charset="0"/>
                        </a:rPr>
                        <a:t>Flag transactions matching known rules</a:t>
                      </a:r>
                    </a:p>
                  </a:txBody>
                  <a:tcPr anchor="ctr"/>
                </a:tc>
                <a:tc>
                  <a:txBody>
                    <a:bodyPr/>
                    <a:lstStyle/>
                    <a:p>
                      <a:pPr algn="ctr"/>
                      <a:r>
                        <a:rPr sz="1800">
                          <a:latin typeface="Times New Roman" panose="02020603050405020304" pitchFamily="18" charset="0"/>
                          <a:cs typeface="Times New Roman" panose="02020603050405020304" pitchFamily="18" charset="0"/>
                        </a:rPr>
                        <a:t>May miss new fraud patterns</a:t>
                      </a:r>
                    </a:p>
                  </a:txBody>
                  <a:tcPr anchor="ctr"/>
                </a:tc>
                <a:extLst>
                  <a:ext uri="{0D108BD9-81ED-4DB2-BD59-A6C34878D82A}">
                    <a16:rowId xmlns:a16="http://schemas.microsoft.com/office/drawing/2014/main" val="10001"/>
                  </a:ext>
                </a:extLst>
              </a:tr>
              <a:tr h="1559916">
                <a:tc>
                  <a:txBody>
                    <a:bodyPr/>
                    <a:lstStyle/>
                    <a:p>
                      <a:pPr algn="ctr"/>
                      <a:r>
                        <a:rPr sz="1800">
                          <a:latin typeface="Times New Roman" panose="02020603050405020304" pitchFamily="18" charset="0"/>
                          <a:cs typeface="Times New Roman" panose="02020603050405020304" pitchFamily="18" charset="0"/>
                        </a:rPr>
                        <a:t>2</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Machine Learning Classification</a:t>
                      </a:r>
                    </a:p>
                  </a:txBody>
                  <a:tcPr anchor="ctr"/>
                </a:tc>
                <a:tc>
                  <a:txBody>
                    <a:bodyPr/>
                    <a:lstStyle/>
                    <a:p>
                      <a:pPr algn="ctr"/>
                      <a:r>
                        <a:rPr sz="1800" dirty="0">
                          <a:latin typeface="Times New Roman" panose="02020603050405020304" pitchFamily="18" charset="0"/>
                          <a:cs typeface="Times New Roman" panose="02020603050405020304" pitchFamily="18" charset="0"/>
                        </a:rPr>
                        <a:t>Decision Tree, Random Forest</a:t>
                      </a:r>
                    </a:p>
                  </a:txBody>
                  <a:tcPr anchor="ctr"/>
                </a:tc>
                <a:tc>
                  <a:txBody>
                    <a:bodyPr/>
                    <a:lstStyle/>
                    <a:p>
                      <a:pPr algn="ctr"/>
                      <a:r>
                        <a:rPr sz="1800" dirty="0">
                          <a:latin typeface="Times New Roman" panose="02020603050405020304" pitchFamily="18" charset="0"/>
                          <a:cs typeface="Times New Roman" panose="02020603050405020304" pitchFamily="18" charset="0"/>
                        </a:rPr>
                        <a:t>Labelled transaction records</a:t>
                      </a:r>
                    </a:p>
                  </a:txBody>
                  <a:tcPr anchor="ctr"/>
                </a:tc>
                <a:tc>
                  <a:txBody>
                    <a:bodyPr/>
                    <a:lstStyle/>
                    <a:p>
                      <a:pPr algn="ctr"/>
                      <a:r>
                        <a:rPr sz="1800" dirty="0">
                          <a:latin typeface="Times New Roman" panose="02020603050405020304" pitchFamily="18" charset="0"/>
                          <a:cs typeface="Times New Roman" panose="02020603050405020304" pitchFamily="18" charset="0"/>
                        </a:rPr>
                        <a:t>Classify transactions as genuine or suspicious</a:t>
                      </a:r>
                    </a:p>
                  </a:txBody>
                  <a:tcPr anchor="ctr"/>
                </a:tc>
                <a:tc>
                  <a:txBody>
                    <a:bodyPr/>
                    <a:lstStyle/>
                    <a:p>
                      <a:pPr algn="ctr"/>
                      <a:r>
                        <a:rPr sz="1800">
                          <a:latin typeface="Times New Roman" panose="02020603050405020304" pitchFamily="18" charset="0"/>
                          <a:cs typeface="Times New Roman" panose="02020603050405020304" pitchFamily="18" charset="0"/>
                        </a:rPr>
                        <a:t>Needs quality labelled data</a:t>
                      </a:r>
                    </a:p>
                  </a:txBody>
                  <a:tcPr anchor="ctr"/>
                </a:tc>
                <a:extLst>
                  <a:ext uri="{0D108BD9-81ED-4DB2-BD59-A6C34878D82A}">
                    <a16:rowId xmlns:a16="http://schemas.microsoft.com/office/drawing/2014/main" val="10002"/>
                  </a:ext>
                </a:extLst>
              </a:tr>
              <a:tr h="1685726">
                <a:tc>
                  <a:txBody>
                    <a:bodyPr/>
                    <a:lstStyle/>
                    <a:p>
                      <a:pPr algn="ctr"/>
                      <a:r>
                        <a:rPr sz="1800">
                          <a:latin typeface="Times New Roman" panose="02020603050405020304" pitchFamily="18" charset="0"/>
                          <a:cs typeface="Times New Roman" panose="02020603050405020304" pitchFamily="18" charset="0"/>
                        </a:rPr>
                        <a:t>3</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Anomaly Detection</a:t>
                      </a:r>
                    </a:p>
                  </a:txBody>
                  <a:tcPr anchor="ctr"/>
                </a:tc>
                <a:tc>
                  <a:txBody>
                    <a:bodyPr/>
                    <a:lstStyle/>
                    <a:p>
                      <a:pPr algn="ctr"/>
                      <a:r>
                        <a:rPr sz="1800">
                          <a:latin typeface="Times New Roman" panose="02020603050405020304" pitchFamily="18" charset="0"/>
                          <a:cs typeface="Times New Roman" panose="02020603050405020304" pitchFamily="18" charset="0"/>
                        </a:rPr>
                        <a:t>Isolation Forest, clustering</a:t>
                      </a:r>
                    </a:p>
                  </a:txBody>
                  <a:tcPr anchor="ctr"/>
                </a:tc>
                <a:tc>
                  <a:txBody>
                    <a:bodyPr/>
                    <a:lstStyle/>
                    <a:p>
                      <a:pPr algn="ctr"/>
                      <a:r>
                        <a:rPr sz="1800">
                          <a:latin typeface="Times New Roman" panose="02020603050405020304" pitchFamily="18" charset="0"/>
                          <a:cs typeface="Times New Roman" panose="02020603050405020304" pitchFamily="18" charset="0"/>
                        </a:rPr>
                        <a:t>Transaction behaviour features</a:t>
                      </a:r>
                    </a:p>
                  </a:txBody>
                  <a:tcPr anchor="ctr"/>
                </a:tc>
                <a:tc>
                  <a:txBody>
                    <a:bodyPr/>
                    <a:lstStyle/>
                    <a:p>
                      <a:pPr algn="ctr"/>
                      <a:r>
                        <a:rPr sz="1800">
                          <a:latin typeface="Times New Roman" panose="02020603050405020304" pitchFamily="18" charset="0"/>
                          <a:cs typeface="Times New Roman" panose="02020603050405020304" pitchFamily="18" charset="0"/>
                        </a:rPr>
                        <a:t>Find unusual transaction patterns</a:t>
                      </a:r>
                    </a:p>
                  </a:txBody>
                  <a:tcPr anchor="ctr"/>
                </a:tc>
                <a:tc>
                  <a:txBody>
                    <a:bodyPr/>
                    <a:lstStyle/>
                    <a:p>
                      <a:pPr algn="ctr"/>
                      <a:r>
                        <a:rPr sz="1800" dirty="0">
                          <a:latin typeface="Times New Roman" panose="02020603050405020304" pitchFamily="18" charset="0"/>
                          <a:cs typeface="Times New Roman" panose="02020603050405020304" pitchFamily="18" charset="0"/>
                        </a:rPr>
                        <a:t>Can flag genuine unusual activity</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46364"/>
            <a:ext cx="8229600" cy="6206836"/>
          </a:xfrm>
        </p:spPr>
        <p:txBody>
          <a:bodyPr wrap="square">
            <a:normAutofit/>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wrap="square">
            <a:normAutofit/>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19077978"/>
              </p:ext>
            </p:extLst>
          </p:nvPr>
        </p:nvGraphicFramePr>
        <p:xfrm>
          <a:off x="457200" y="346364"/>
          <a:ext cx="8229600" cy="6206835"/>
        </p:xfrm>
        <a:graphic>
          <a:graphicData uri="http://schemas.openxmlformats.org/drawingml/2006/table">
            <a:tbl>
              <a:tblPr firstRow="1" firstCol="1" bandRow="1">
                <a:tableStyleId>{BC89EF96-8CEA-46FF-86C4-4CE0E7609802}</a:tableStyleId>
              </a:tblPr>
              <a:tblGrid>
                <a:gridCol w="393032">
                  <a:extLst>
                    <a:ext uri="{9D8B030D-6E8A-4147-A177-3AD203B41FA5}">
                      <a16:colId xmlns:a16="http://schemas.microsoft.com/office/drawing/2014/main" val="20000"/>
                    </a:ext>
                  </a:extLst>
                </a:gridCol>
                <a:gridCol w="1432158">
                  <a:extLst>
                    <a:ext uri="{9D8B030D-6E8A-4147-A177-3AD203B41FA5}">
                      <a16:colId xmlns:a16="http://schemas.microsoft.com/office/drawing/2014/main" val="20001"/>
                    </a:ext>
                  </a:extLst>
                </a:gridCol>
                <a:gridCol w="1680145">
                  <a:extLst>
                    <a:ext uri="{9D8B030D-6E8A-4147-A177-3AD203B41FA5}">
                      <a16:colId xmlns:a16="http://schemas.microsoft.com/office/drawing/2014/main" val="20002"/>
                    </a:ext>
                  </a:extLst>
                </a:gridCol>
                <a:gridCol w="1218929">
                  <a:extLst>
                    <a:ext uri="{9D8B030D-6E8A-4147-A177-3AD203B41FA5}">
                      <a16:colId xmlns:a16="http://schemas.microsoft.com/office/drawing/2014/main" val="20003"/>
                    </a:ext>
                  </a:extLst>
                </a:gridCol>
                <a:gridCol w="1594583">
                  <a:extLst>
                    <a:ext uri="{9D8B030D-6E8A-4147-A177-3AD203B41FA5}">
                      <a16:colId xmlns:a16="http://schemas.microsoft.com/office/drawing/2014/main" val="20004"/>
                    </a:ext>
                  </a:extLst>
                </a:gridCol>
                <a:gridCol w="1910753">
                  <a:extLst>
                    <a:ext uri="{9D8B030D-6E8A-4147-A177-3AD203B41FA5}">
                      <a16:colId xmlns:a16="http://schemas.microsoft.com/office/drawing/2014/main" val="20005"/>
                    </a:ext>
                  </a:extLst>
                </a:gridCol>
              </a:tblGrid>
              <a:tr h="757986">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000"/>
                  </a:ext>
                </a:extLst>
              </a:tr>
              <a:tr h="1911741">
                <a:tc>
                  <a:txBody>
                    <a:bodyPr/>
                    <a:lstStyle/>
                    <a:p>
                      <a:pPr algn="ctr"/>
                      <a:r>
                        <a:rPr sz="2000" dirty="0">
                          <a:latin typeface="Times New Roman" panose="02020603050405020304" pitchFamily="18" charset="0"/>
                          <a:cs typeface="Times New Roman" panose="02020603050405020304" pitchFamily="18" charset="0"/>
                        </a:rPr>
                        <a:t>4</a:t>
                      </a:r>
                    </a:p>
                  </a:txBody>
                  <a:tcPr marL="18302" marR="18302" marT="16014" marB="16014" anchor="ctr"/>
                </a:tc>
                <a:tc>
                  <a:txBody>
                    <a:bodyPr/>
                    <a:lstStyle/>
                    <a:p>
                      <a:pPr algn="ctr"/>
                      <a:r>
                        <a:rPr sz="2000" dirty="0">
                          <a:latin typeface="Times New Roman" panose="02020603050405020304" pitchFamily="18" charset="0"/>
                          <a:cs typeface="Times New Roman" panose="02020603050405020304" pitchFamily="18" charset="0"/>
                        </a:rPr>
                        <a:t>Neural Network Detection</a:t>
                      </a:r>
                    </a:p>
                  </a:txBody>
                  <a:tcPr anchor="ctr"/>
                </a:tc>
                <a:tc>
                  <a:txBody>
                    <a:bodyPr/>
                    <a:lstStyle/>
                    <a:p>
                      <a:pPr algn="ctr"/>
                      <a:r>
                        <a:rPr sz="2000" dirty="0">
                          <a:latin typeface="Times New Roman" panose="02020603050405020304" pitchFamily="18" charset="0"/>
                          <a:cs typeface="Times New Roman" panose="02020603050405020304" pitchFamily="18" charset="0"/>
                        </a:rPr>
                        <a:t>Deep Learning, neural networks</a:t>
                      </a:r>
                    </a:p>
                  </a:txBody>
                  <a:tcPr anchor="ctr"/>
                </a:tc>
                <a:tc>
                  <a:txBody>
                    <a:bodyPr/>
                    <a:lstStyle/>
                    <a:p>
                      <a:pPr algn="ctr"/>
                      <a:r>
                        <a:rPr sz="2000">
                          <a:latin typeface="Times New Roman" panose="02020603050405020304" pitchFamily="18" charset="0"/>
                          <a:cs typeface="Times New Roman" panose="02020603050405020304" pitchFamily="18" charset="0"/>
                        </a:rPr>
                        <a:t>Historical transaction features</a:t>
                      </a:r>
                    </a:p>
                  </a:txBody>
                  <a:tcPr anchor="ctr"/>
                </a:tc>
                <a:tc>
                  <a:txBody>
                    <a:bodyPr/>
                    <a:lstStyle/>
                    <a:p>
                      <a:pPr algn="ctr"/>
                      <a:r>
                        <a:rPr sz="2000">
                          <a:latin typeface="Times New Roman" panose="02020603050405020304" pitchFamily="18" charset="0"/>
                          <a:cs typeface="Times New Roman" panose="02020603050405020304" pitchFamily="18" charset="0"/>
                        </a:rPr>
                        <a:t>Learn complex fraud patterns</a:t>
                      </a:r>
                    </a:p>
                  </a:txBody>
                  <a:tcPr anchor="ctr"/>
                </a:tc>
                <a:tc>
                  <a:txBody>
                    <a:bodyPr/>
                    <a:lstStyle/>
                    <a:p>
                      <a:pPr algn="ctr"/>
                      <a:r>
                        <a:rPr sz="2000">
                          <a:latin typeface="Times New Roman" panose="02020603050405020304" pitchFamily="18" charset="0"/>
                          <a:cs typeface="Times New Roman" panose="02020603050405020304" pitchFamily="18" charset="0"/>
                        </a:rPr>
                        <a:t>Needs more data and computing</a:t>
                      </a:r>
                    </a:p>
                  </a:txBody>
                  <a:tcPr anchor="ctr"/>
                </a:tc>
                <a:extLst>
                  <a:ext uri="{0D108BD9-81ED-4DB2-BD59-A6C34878D82A}">
                    <a16:rowId xmlns:a16="http://schemas.microsoft.com/office/drawing/2014/main" val="10001"/>
                  </a:ext>
                </a:extLst>
              </a:tr>
              <a:tr h="1984772">
                <a:tc>
                  <a:txBody>
                    <a:bodyPr/>
                    <a:lstStyle/>
                    <a:p>
                      <a:pPr algn="ctr"/>
                      <a:r>
                        <a:rPr sz="2000">
                          <a:latin typeface="Times New Roman" panose="02020603050405020304" pitchFamily="18" charset="0"/>
                          <a:cs typeface="Times New Roman" panose="02020603050405020304" pitchFamily="18" charset="0"/>
                        </a:rPr>
                        <a:t>5</a:t>
                      </a:r>
                    </a:p>
                  </a:txBody>
                  <a:tcPr marL="18302" marR="18302" marT="16014" marB="16014" anchor="ctr"/>
                </a:tc>
                <a:tc>
                  <a:txBody>
                    <a:bodyPr/>
                    <a:lstStyle/>
                    <a:p>
                      <a:pPr algn="ctr"/>
                      <a:r>
                        <a:rPr sz="2000">
                          <a:latin typeface="Times New Roman" panose="02020603050405020304" pitchFamily="18" charset="0"/>
                          <a:cs typeface="Times New Roman" panose="02020603050405020304" pitchFamily="18" charset="0"/>
                        </a:rPr>
                        <a:t>Behaviour-Based Detection</a:t>
                      </a:r>
                    </a:p>
                  </a:txBody>
                  <a:tcPr anchor="ctr"/>
                </a:tc>
                <a:tc>
                  <a:txBody>
                    <a:bodyPr/>
                    <a:lstStyle/>
                    <a:p>
                      <a:pPr algn="ctr"/>
                      <a:r>
                        <a:rPr sz="2000" dirty="0">
                          <a:latin typeface="Times New Roman" panose="02020603050405020304" pitchFamily="18" charset="0"/>
                          <a:cs typeface="Times New Roman" panose="02020603050405020304" pitchFamily="18" charset="0"/>
                        </a:rPr>
                        <a:t>ML, user </a:t>
                      </a:r>
                      <a:r>
                        <a:rPr sz="2000" dirty="0" err="1">
                          <a:latin typeface="Times New Roman" panose="02020603050405020304" pitchFamily="18" charset="0"/>
                          <a:cs typeface="Times New Roman" panose="02020603050405020304" pitchFamily="18" charset="0"/>
                        </a:rPr>
                        <a:t>behaviour</a:t>
                      </a:r>
                      <a:r>
                        <a:rPr sz="2000" dirty="0">
                          <a:latin typeface="Times New Roman" panose="02020603050405020304" pitchFamily="18" charset="0"/>
                          <a:cs typeface="Times New Roman" panose="02020603050405020304" pitchFamily="18" charset="0"/>
                        </a:rPr>
                        <a:t> analytics</a:t>
                      </a:r>
                    </a:p>
                  </a:txBody>
                  <a:tcPr anchor="ctr"/>
                </a:tc>
                <a:tc>
                  <a:txBody>
                    <a:bodyPr/>
                    <a:lstStyle/>
                    <a:p>
                      <a:pPr algn="ctr"/>
                      <a:r>
                        <a:rPr sz="2000" dirty="0">
                          <a:latin typeface="Times New Roman" panose="02020603050405020304" pitchFamily="18" charset="0"/>
                          <a:cs typeface="Times New Roman" panose="02020603050405020304" pitchFamily="18" charset="0"/>
                        </a:rPr>
                        <a:t>User's normal payment patterns</a:t>
                      </a:r>
                    </a:p>
                  </a:txBody>
                  <a:tcPr anchor="ctr"/>
                </a:tc>
                <a:tc>
                  <a:txBody>
                    <a:bodyPr/>
                    <a:lstStyle/>
                    <a:p>
                      <a:pPr algn="ctr"/>
                      <a:r>
                        <a:rPr sz="2000" dirty="0">
                          <a:latin typeface="Times New Roman" panose="02020603050405020304" pitchFamily="18" charset="0"/>
                          <a:cs typeface="Times New Roman" panose="02020603050405020304" pitchFamily="18" charset="0"/>
                        </a:rPr>
                        <a:t>Detect sudden </a:t>
                      </a:r>
                      <a:r>
                        <a:rPr sz="2000" dirty="0" err="1">
                          <a:latin typeface="Times New Roman" panose="02020603050405020304" pitchFamily="18" charset="0"/>
                          <a:cs typeface="Times New Roman" panose="02020603050405020304" pitchFamily="18" charset="0"/>
                        </a:rPr>
                        <a:t>behaviour</a:t>
                      </a:r>
                      <a:r>
                        <a:rPr sz="2000" dirty="0">
                          <a:latin typeface="Times New Roman" panose="02020603050405020304" pitchFamily="18" charset="0"/>
                          <a:cs typeface="Times New Roman" panose="02020603050405020304" pitchFamily="18" charset="0"/>
                        </a:rPr>
                        <a:t> changes</a:t>
                      </a:r>
                    </a:p>
                  </a:txBody>
                  <a:tcPr anchor="ctr"/>
                </a:tc>
                <a:tc>
                  <a:txBody>
                    <a:bodyPr/>
                    <a:lstStyle/>
                    <a:p>
                      <a:pPr algn="ctr"/>
                      <a:r>
                        <a:rPr sz="2000">
                          <a:latin typeface="Times New Roman" panose="02020603050405020304" pitchFamily="18" charset="0"/>
                          <a:cs typeface="Times New Roman" panose="02020603050405020304" pitchFamily="18" charset="0"/>
                        </a:rPr>
                        <a:t>Behaviour may change legitimately</a:t>
                      </a:r>
                    </a:p>
                  </a:txBody>
                  <a:tcPr anchor="ctr"/>
                </a:tc>
                <a:extLst>
                  <a:ext uri="{0D108BD9-81ED-4DB2-BD59-A6C34878D82A}">
                    <a16:rowId xmlns:a16="http://schemas.microsoft.com/office/drawing/2014/main" val="10002"/>
                  </a:ext>
                </a:extLst>
              </a:tr>
              <a:tr h="1552336">
                <a:tc>
                  <a:txBody>
                    <a:bodyPr/>
                    <a:lstStyle/>
                    <a:p>
                      <a:pPr algn="ctr"/>
                      <a:r>
                        <a:rPr sz="2000">
                          <a:latin typeface="Times New Roman" panose="02020603050405020304" pitchFamily="18" charset="0"/>
                          <a:cs typeface="Times New Roman" panose="02020603050405020304" pitchFamily="18" charset="0"/>
                        </a:rPr>
                        <a:t>6</a:t>
                      </a:r>
                    </a:p>
                  </a:txBody>
                  <a:tcPr marL="18302" marR="18302" marT="16014" marB="16014" anchor="ctr"/>
                </a:tc>
                <a:tc>
                  <a:txBody>
                    <a:bodyPr/>
                    <a:lstStyle/>
                    <a:p>
                      <a:pPr algn="ctr"/>
                      <a:r>
                        <a:rPr sz="2000">
                          <a:latin typeface="Times New Roman" panose="02020603050405020304" pitchFamily="18" charset="0"/>
                          <a:cs typeface="Times New Roman" panose="02020603050405020304" pitchFamily="18" charset="0"/>
                        </a:rPr>
                        <a:t>Real-Time Transaction Scoring</a:t>
                      </a:r>
                    </a:p>
                  </a:txBody>
                  <a:tcPr anchor="ctr"/>
                </a:tc>
                <a:tc>
                  <a:txBody>
                    <a:bodyPr/>
                    <a:lstStyle/>
                    <a:p>
                      <a:pPr algn="ctr"/>
                      <a:r>
                        <a:rPr sz="2000">
                          <a:latin typeface="Times New Roman" panose="02020603050405020304" pitchFamily="18" charset="0"/>
                          <a:cs typeface="Times New Roman" panose="02020603050405020304" pitchFamily="18" charset="0"/>
                        </a:rPr>
                        <a:t>Streaming data, ML model</a:t>
                      </a:r>
                    </a:p>
                  </a:txBody>
                  <a:tcPr anchor="ctr"/>
                </a:tc>
                <a:tc>
                  <a:txBody>
                    <a:bodyPr/>
                    <a:lstStyle/>
                    <a:p>
                      <a:pPr algn="ctr"/>
                      <a:r>
                        <a:rPr sz="2000">
                          <a:latin typeface="Times New Roman" panose="02020603050405020304" pitchFamily="18" charset="0"/>
                          <a:cs typeface="Times New Roman" panose="02020603050405020304" pitchFamily="18" charset="0"/>
                        </a:rPr>
                        <a:t>Live transaction features</a:t>
                      </a:r>
                    </a:p>
                  </a:txBody>
                  <a:tcPr anchor="ctr"/>
                </a:tc>
                <a:tc>
                  <a:txBody>
                    <a:bodyPr/>
                    <a:lstStyle/>
                    <a:p>
                      <a:pPr algn="ctr"/>
                      <a:r>
                        <a:rPr sz="2000" dirty="0">
                          <a:latin typeface="Times New Roman" panose="02020603050405020304" pitchFamily="18" charset="0"/>
                          <a:cs typeface="Times New Roman" panose="02020603050405020304" pitchFamily="18" charset="0"/>
                        </a:rPr>
                        <a:t>Score risk before completing payment</a:t>
                      </a:r>
                    </a:p>
                  </a:txBody>
                  <a:tcPr anchor="ctr"/>
                </a:tc>
                <a:tc>
                  <a:txBody>
                    <a:bodyPr/>
                    <a:lstStyle/>
                    <a:p>
                      <a:pPr algn="ctr"/>
                      <a:r>
                        <a:rPr sz="2000" dirty="0">
                          <a:latin typeface="Times New Roman" panose="02020603050405020304" pitchFamily="18" charset="0"/>
                          <a:cs typeface="Times New Roman" panose="02020603050405020304" pitchFamily="18" charset="0"/>
                        </a:rPr>
                        <a:t>Low latency is essential</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60218"/>
            <a:ext cx="8229600" cy="6192982"/>
          </a:xfrm>
        </p:spPr>
        <p:txBody>
          <a:bodyPr wrap="square">
            <a:normAutofit/>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wrap="square">
            <a:normAutofit/>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244939386"/>
              </p:ext>
            </p:extLst>
          </p:nvPr>
        </p:nvGraphicFramePr>
        <p:xfrm>
          <a:off x="457199" y="360217"/>
          <a:ext cx="8229602" cy="6184018"/>
        </p:xfrm>
        <a:graphic>
          <a:graphicData uri="http://schemas.openxmlformats.org/drawingml/2006/table">
            <a:tbl>
              <a:tblPr firstRow="1" firstCol="1" bandRow="1">
                <a:tableStyleId>{BC89EF96-8CEA-46FF-86C4-4CE0E7609802}</a:tableStyleId>
              </a:tblPr>
              <a:tblGrid>
                <a:gridCol w="415673">
                  <a:extLst>
                    <a:ext uri="{9D8B030D-6E8A-4147-A177-3AD203B41FA5}">
                      <a16:colId xmlns:a16="http://schemas.microsoft.com/office/drawing/2014/main" val="20000"/>
                    </a:ext>
                  </a:extLst>
                </a:gridCol>
                <a:gridCol w="1409518">
                  <a:extLst>
                    <a:ext uri="{9D8B030D-6E8A-4147-A177-3AD203B41FA5}">
                      <a16:colId xmlns:a16="http://schemas.microsoft.com/office/drawing/2014/main" val="20001"/>
                    </a:ext>
                  </a:extLst>
                </a:gridCol>
                <a:gridCol w="1680146">
                  <a:extLst>
                    <a:ext uri="{9D8B030D-6E8A-4147-A177-3AD203B41FA5}">
                      <a16:colId xmlns:a16="http://schemas.microsoft.com/office/drawing/2014/main" val="20002"/>
                    </a:ext>
                  </a:extLst>
                </a:gridCol>
                <a:gridCol w="1218929">
                  <a:extLst>
                    <a:ext uri="{9D8B030D-6E8A-4147-A177-3AD203B41FA5}">
                      <a16:colId xmlns:a16="http://schemas.microsoft.com/office/drawing/2014/main" val="20003"/>
                    </a:ext>
                  </a:extLst>
                </a:gridCol>
                <a:gridCol w="1594582">
                  <a:extLst>
                    <a:ext uri="{9D8B030D-6E8A-4147-A177-3AD203B41FA5}">
                      <a16:colId xmlns:a16="http://schemas.microsoft.com/office/drawing/2014/main" val="20004"/>
                    </a:ext>
                  </a:extLst>
                </a:gridCol>
                <a:gridCol w="1910754">
                  <a:extLst>
                    <a:ext uri="{9D8B030D-6E8A-4147-A177-3AD203B41FA5}">
                      <a16:colId xmlns:a16="http://schemas.microsoft.com/office/drawing/2014/main" val="20005"/>
                    </a:ext>
                  </a:extLst>
                </a:gridCol>
              </a:tblGrid>
              <a:tr h="628043">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000"/>
                  </a:ext>
                </a:extLst>
              </a:tr>
              <a:tr h="1926752">
                <a:tc>
                  <a:txBody>
                    <a:bodyPr/>
                    <a:lstStyle/>
                    <a:p>
                      <a:pPr algn="ctr"/>
                      <a:r>
                        <a:rPr sz="1800" dirty="0">
                          <a:latin typeface="Times New Roman" panose="02020603050405020304" pitchFamily="18" charset="0"/>
                          <a:cs typeface="Times New Roman" panose="02020603050405020304" pitchFamily="18" charset="0"/>
                        </a:rPr>
                        <a:t>7</a:t>
                      </a:r>
                    </a:p>
                  </a:txBody>
                  <a:tcPr marL="18302" marR="18302" marT="16014" marB="16014" anchor="ctr"/>
                </a:tc>
                <a:tc>
                  <a:txBody>
                    <a:bodyPr/>
                    <a:lstStyle/>
                    <a:p>
                      <a:pPr algn="ctr"/>
                      <a:r>
                        <a:rPr sz="1800" dirty="0">
                          <a:latin typeface="Times New Roman" panose="02020603050405020304" pitchFamily="18" charset="0"/>
                          <a:cs typeface="Times New Roman" panose="02020603050405020304" pitchFamily="18" charset="0"/>
                        </a:rPr>
                        <a:t>Graph-Based Fraud Analysis</a:t>
                      </a:r>
                    </a:p>
                  </a:txBody>
                  <a:tcPr anchor="ctr"/>
                </a:tc>
                <a:tc>
                  <a:txBody>
                    <a:bodyPr/>
                    <a:lstStyle/>
                    <a:p>
                      <a:pPr algn="ctr"/>
                      <a:r>
                        <a:rPr sz="1800" dirty="0">
                          <a:latin typeface="Times New Roman" panose="02020603050405020304" pitchFamily="18" charset="0"/>
                          <a:cs typeface="Times New Roman" panose="02020603050405020304" pitchFamily="18" charset="0"/>
                        </a:rPr>
                        <a:t>Graph analytics, ML</a:t>
                      </a:r>
                    </a:p>
                  </a:txBody>
                  <a:tcPr anchor="ctr"/>
                </a:tc>
                <a:tc>
                  <a:txBody>
                    <a:bodyPr/>
                    <a:lstStyle/>
                    <a:p>
                      <a:pPr algn="ctr"/>
                      <a:r>
                        <a:rPr sz="1800">
                          <a:latin typeface="Times New Roman" panose="02020603050405020304" pitchFamily="18" charset="0"/>
                          <a:cs typeface="Times New Roman" panose="02020603050405020304" pitchFamily="18" charset="0"/>
                        </a:rPr>
                        <a:t>Accounts, devices, payment links</a:t>
                      </a:r>
                    </a:p>
                  </a:txBody>
                  <a:tcPr anchor="ctr"/>
                </a:tc>
                <a:tc>
                  <a:txBody>
                    <a:bodyPr/>
                    <a:lstStyle/>
                    <a:p>
                      <a:pPr algn="ctr"/>
                      <a:r>
                        <a:rPr sz="1800">
                          <a:latin typeface="Times New Roman" panose="02020603050405020304" pitchFamily="18" charset="0"/>
                          <a:cs typeface="Times New Roman" panose="02020603050405020304" pitchFamily="18" charset="0"/>
                        </a:rPr>
                        <a:t>Identify connected fraud networks</a:t>
                      </a:r>
                    </a:p>
                  </a:txBody>
                  <a:tcPr anchor="ctr"/>
                </a:tc>
                <a:tc>
                  <a:txBody>
                    <a:bodyPr/>
                    <a:lstStyle/>
                    <a:p>
                      <a:pPr algn="ctr"/>
                      <a:r>
                        <a:rPr sz="1800">
                          <a:latin typeface="Times New Roman" panose="02020603050405020304" pitchFamily="18" charset="0"/>
                          <a:cs typeface="Times New Roman" panose="02020603050405020304" pitchFamily="18" charset="0"/>
                        </a:rPr>
                        <a:t>Graph data can be complex</a:t>
                      </a:r>
                    </a:p>
                  </a:txBody>
                  <a:tcPr anchor="ctr"/>
                </a:tc>
                <a:extLst>
                  <a:ext uri="{0D108BD9-81ED-4DB2-BD59-A6C34878D82A}">
                    <a16:rowId xmlns:a16="http://schemas.microsoft.com/office/drawing/2014/main" val="10001"/>
                  </a:ext>
                </a:extLst>
              </a:tr>
              <a:tr h="1656018">
                <a:tc>
                  <a:txBody>
                    <a:bodyPr/>
                    <a:lstStyle/>
                    <a:p>
                      <a:pPr algn="ctr"/>
                      <a:r>
                        <a:rPr sz="1800">
                          <a:latin typeface="Times New Roman" panose="02020603050405020304" pitchFamily="18" charset="0"/>
                          <a:cs typeface="Times New Roman" panose="02020603050405020304" pitchFamily="18" charset="0"/>
                        </a:rPr>
                        <a:t>8</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Hybrid Fraud Detection</a:t>
                      </a:r>
                    </a:p>
                  </a:txBody>
                  <a:tcPr anchor="ctr"/>
                </a:tc>
                <a:tc>
                  <a:txBody>
                    <a:bodyPr/>
                    <a:lstStyle/>
                    <a:p>
                      <a:pPr algn="ctr"/>
                      <a:r>
                        <a:rPr sz="1800" dirty="0">
                          <a:latin typeface="Times New Roman" panose="02020603050405020304" pitchFamily="18" charset="0"/>
                          <a:cs typeface="Times New Roman" panose="02020603050405020304" pitchFamily="18" charset="0"/>
                        </a:rPr>
                        <a:t>Rules + ML models</a:t>
                      </a:r>
                    </a:p>
                  </a:txBody>
                  <a:tcPr anchor="ctr"/>
                </a:tc>
                <a:tc>
                  <a:txBody>
                    <a:bodyPr/>
                    <a:lstStyle/>
                    <a:p>
                      <a:pPr algn="ctr"/>
                      <a:r>
                        <a:rPr sz="1800" dirty="0">
                          <a:latin typeface="Times New Roman" panose="02020603050405020304" pitchFamily="18" charset="0"/>
                          <a:cs typeface="Times New Roman" panose="02020603050405020304" pitchFamily="18" charset="0"/>
                        </a:rPr>
                        <a:t>Transaction and rule alerts</a:t>
                      </a:r>
                    </a:p>
                  </a:txBody>
                  <a:tcPr anchor="ctr"/>
                </a:tc>
                <a:tc>
                  <a:txBody>
                    <a:bodyPr/>
                    <a:lstStyle/>
                    <a:p>
                      <a:pPr algn="ctr"/>
                      <a:r>
                        <a:rPr sz="1800" dirty="0">
                          <a:latin typeface="Times New Roman" panose="02020603050405020304" pitchFamily="18" charset="0"/>
                          <a:cs typeface="Times New Roman" panose="02020603050405020304" pitchFamily="18" charset="0"/>
                        </a:rPr>
                        <a:t>Combine known rules with learned patterns</a:t>
                      </a:r>
                    </a:p>
                  </a:txBody>
                  <a:tcPr anchor="ctr"/>
                </a:tc>
                <a:tc>
                  <a:txBody>
                    <a:bodyPr/>
                    <a:lstStyle/>
                    <a:p>
                      <a:pPr algn="ctr"/>
                      <a:r>
                        <a:rPr sz="1800">
                          <a:latin typeface="Times New Roman" panose="02020603050405020304" pitchFamily="18" charset="0"/>
                          <a:cs typeface="Times New Roman" panose="02020603050405020304" pitchFamily="18" charset="0"/>
                        </a:rPr>
                        <a:t>Requires careful integration</a:t>
                      </a:r>
                    </a:p>
                  </a:txBody>
                  <a:tcPr anchor="ctr"/>
                </a:tc>
                <a:extLst>
                  <a:ext uri="{0D108BD9-81ED-4DB2-BD59-A6C34878D82A}">
                    <a16:rowId xmlns:a16="http://schemas.microsoft.com/office/drawing/2014/main" val="10002"/>
                  </a:ext>
                </a:extLst>
              </a:tr>
              <a:tr h="1973205">
                <a:tc>
                  <a:txBody>
                    <a:bodyPr/>
                    <a:lstStyle/>
                    <a:p>
                      <a:pPr algn="ctr"/>
                      <a:r>
                        <a:rPr sz="1800">
                          <a:latin typeface="Times New Roman" panose="02020603050405020304" pitchFamily="18" charset="0"/>
                          <a:cs typeface="Times New Roman" panose="02020603050405020304" pitchFamily="18" charset="0"/>
                        </a:rPr>
                        <a:t>9</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SMS / Phishing Risk Analysis</a:t>
                      </a:r>
                    </a:p>
                  </a:txBody>
                  <a:tcPr anchor="ctr"/>
                </a:tc>
                <a:tc>
                  <a:txBody>
                    <a:bodyPr/>
                    <a:lstStyle/>
                    <a:p>
                      <a:pPr algn="ctr"/>
                      <a:r>
                        <a:rPr sz="1800">
                          <a:latin typeface="Times New Roman" panose="02020603050405020304" pitchFamily="18" charset="0"/>
                          <a:cs typeface="Times New Roman" panose="02020603050405020304" pitchFamily="18" charset="0"/>
                        </a:rPr>
                        <a:t>NLP, text classification</a:t>
                      </a:r>
                    </a:p>
                  </a:txBody>
                  <a:tcPr anchor="ctr"/>
                </a:tc>
                <a:tc>
                  <a:txBody>
                    <a:bodyPr/>
                    <a:lstStyle/>
                    <a:p>
                      <a:pPr algn="ctr"/>
                      <a:r>
                        <a:rPr sz="1800">
                          <a:latin typeface="Times New Roman" panose="02020603050405020304" pitchFamily="18" charset="0"/>
                          <a:cs typeface="Times New Roman" panose="02020603050405020304" pitchFamily="18" charset="0"/>
                        </a:rPr>
                        <a:t>Reported messages and URLs</a:t>
                      </a:r>
                    </a:p>
                  </a:txBody>
                  <a:tcPr anchor="ctr"/>
                </a:tc>
                <a:tc>
                  <a:txBody>
                    <a:bodyPr/>
                    <a:lstStyle/>
                    <a:p>
                      <a:pPr algn="ctr"/>
                      <a:r>
                        <a:rPr sz="1800" dirty="0">
                          <a:latin typeface="Times New Roman" panose="02020603050405020304" pitchFamily="18" charset="0"/>
                          <a:cs typeface="Times New Roman" panose="02020603050405020304" pitchFamily="18" charset="0"/>
                        </a:rPr>
                        <a:t>Identify suspicious payment lures</a:t>
                      </a:r>
                    </a:p>
                  </a:txBody>
                  <a:tcPr anchor="ctr"/>
                </a:tc>
                <a:tc>
                  <a:txBody>
                    <a:bodyPr/>
                    <a:lstStyle/>
                    <a:p>
                      <a:pPr algn="ctr"/>
                      <a:r>
                        <a:rPr sz="1800" dirty="0">
                          <a:latin typeface="Times New Roman" panose="02020603050405020304" pitchFamily="18" charset="0"/>
                          <a:cs typeface="Times New Roman" panose="02020603050405020304" pitchFamily="18" charset="0"/>
                        </a:rPr>
                        <a:t>May miss new scam wording</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387927"/>
            <a:ext cx="8229600" cy="6165273"/>
          </a:xfrm>
        </p:spPr>
        <p:txBody>
          <a:bodyPr wrap="square">
            <a:normAutofit/>
          </a:bodyPr>
          <a:lstStyle/>
          <a:p>
            <a:pPr marL="114300" indent="0">
              <a:buNone/>
            </a:pPr>
            <a:r>
              <a:rPr lang="en-GB" dirty="0"/>
              <a:t>               </a:t>
            </a:r>
            <a:endParaRPr lang="en-IN" dirty="0"/>
          </a:p>
        </p:txBody>
      </p:sp>
      <p:sp>
        <p:nvSpPr>
          <p:cNvPr id="4" name="Slide Number Placeholder 3"/>
          <p:cNvSpPr>
            <a:spLocks noGrp="1"/>
          </p:cNvSpPr>
          <p:nvPr>
            <p:ph type="sldNum" idx="12"/>
          </p:nvPr>
        </p:nvSpPr>
        <p:spPr/>
        <p:txBody>
          <a:bodyPr wrap="square">
            <a:normAutofit/>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547821529"/>
              </p:ext>
            </p:extLst>
          </p:nvPr>
        </p:nvGraphicFramePr>
        <p:xfrm>
          <a:off x="457200" y="387926"/>
          <a:ext cx="8229599" cy="6165273"/>
        </p:xfrm>
        <a:graphic>
          <a:graphicData uri="http://schemas.openxmlformats.org/drawingml/2006/table">
            <a:tbl>
              <a:tblPr firstRow="1" firstCol="1" bandRow="1">
                <a:tableStyleId>{BC89EF96-8CEA-46FF-86C4-4CE0E7609802}</a:tableStyleId>
              </a:tblPr>
              <a:tblGrid>
                <a:gridCol w="441158">
                  <a:extLst>
                    <a:ext uri="{9D8B030D-6E8A-4147-A177-3AD203B41FA5}">
                      <a16:colId xmlns:a16="http://schemas.microsoft.com/office/drawing/2014/main" val="20000"/>
                    </a:ext>
                  </a:extLst>
                </a:gridCol>
                <a:gridCol w="1384032">
                  <a:extLst>
                    <a:ext uri="{9D8B030D-6E8A-4147-A177-3AD203B41FA5}">
                      <a16:colId xmlns:a16="http://schemas.microsoft.com/office/drawing/2014/main" val="20001"/>
                    </a:ext>
                  </a:extLst>
                </a:gridCol>
                <a:gridCol w="1680145">
                  <a:extLst>
                    <a:ext uri="{9D8B030D-6E8A-4147-A177-3AD203B41FA5}">
                      <a16:colId xmlns:a16="http://schemas.microsoft.com/office/drawing/2014/main" val="20002"/>
                    </a:ext>
                  </a:extLst>
                </a:gridCol>
                <a:gridCol w="1290783">
                  <a:extLst>
                    <a:ext uri="{9D8B030D-6E8A-4147-A177-3AD203B41FA5}">
                      <a16:colId xmlns:a16="http://schemas.microsoft.com/office/drawing/2014/main" val="20003"/>
                    </a:ext>
                  </a:extLst>
                </a:gridCol>
                <a:gridCol w="1522728">
                  <a:extLst>
                    <a:ext uri="{9D8B030D-6E8A-4147-A177-3AD203B41FA5}">
                      <a16:colId xmlns:a16="http://schemas.microsoft.com/office/drawing/2014/main" val="20004"/>
                    </a:ext>
                  </a:extLst>
                </a:gridCol>
                <a:gridCol w="1910753">
                  <a:extLst>
                    <a:ext uri="{9D8B030D-6E8A-4147-A177-3AD203B41FA5}">
                      <a16:colId xmlns:a16="http://schemas.microsoft.com/office/drawing/2014/main" val="20005"/>
                    </a:ext>
                  </a:extLst>
                </a:gridCol>
              </a:tblGrid>
              <a:tr h="646625">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val="10000"/>
                  </a:ext>
                </a:extLst>
              </a:tr>
              <a:tr h="2140289">
                <a:tc>
                  <a:txBody>
                    <a:bodyPr/>
                    <a:lstStyle/>
                    <a:p>
                      <a:pPr algn="ctr"/>
                      <a:r>
                        <a:rPr sz="1800" dirty="0">
                          <a:latin typeface="Times New Roman" panose="02020603050405020304" pitchFamily="18" charset="0"/>
                          <a:cs typeface="Times New Roman" panose="02020603050405020304" pitchFamily="18" charset="0"/>
                        </a:rPr>
                        <a:t>10</a:t>
                      </a:r>
                    </a:p>
                  </a:txBody>
                  <a:tcPr marL="18302" marR="18302" marT="16014" marB="16014" anchor="ctr"/>
                </a:tc>
                <a:tc>
                  <a:txBody>
                    <a:bodyPr/>
                    <a:lstStyle/>
                    <a:p>
                      <a:pPr algn="ctr"/>
                      <a:r>
                        <a:rPr sz="1800" dirty="0">
                          <a:latin typeface="Times New Roman" panose="02020603050405020304" pitchFamily="18" charset="0"/>
                          <a:cs typeface="Times New Roman" panose="02020603050405020304" pitchFamily="18" charset="0"/>
                        </a:rPr>
                        <a:t>Device and Session Signals</a:t>
                      </a:r>
                    </a:p>
                  </a:txBody>
                  <a:tcPr anchor="ctr"/>
                </a:tc>
                <a:tc>
                  <a:txBody>
                    <a:bodyPr/>
                    <a:lstStyle/>
                    <a:p>
                      <a:pPr algn="ctr"/>
                      <a:r>
                        <a:rPr sz="1800" dirty="0">
                          <a:latin typeface="Times New Roman" panose="02020603050405020304" pitchFamily="18" charset="0"/>
                          <a:cs typeface="Times New Roman" panose="02020603050405020304" pitchFamily="18" charset="0"/>
                        </a:rPr>
                        <a:t>Device fingerprinting, analytics</a:t>
                      </a:r>
                    </a:p>
                  </a:txBody>
                  <a:tcPr anchor="ctr"/>
                </a:tc>
                <a:tc>
                  <a:txBody>
                    <a:bodyPr/>
                    <a:lstStyle/>
                    <a:p>
                      <a:pPr algn="ctr"/>
                      <a:r>
                        <a:rPr sz="1800">
                          <a:latin typeface="Times New Roman" panose="02020603050405020304" pitchFamily="18" charset="0"/>
                          <a:cs typeface="Times New Roman" panose="02020603050405020304" pitchFamily="18" charset="0"/>
                        </a:rPr>
                        <a:t>Device, session and login signals</a:t>
                      </a:r>
                    </a:p>
                  </a:txBody>
                  <a:tcPr anchor="ctr"/>
                </a:tc>
                <a:tc>
                  <a:txBody>
                    <a:bodyPr/>
                    <a:lstStyle/>
                    <a:p>
                      <a:pPr algn="ctr"/>
                      <a:r>
                        <a:rPr sz="1800">
                          <a:latin typeface="Times New Roman" panose="02020603050405020304" pitchFamily="18" charset="0"/>
                          <a:cs typeface="Times New Roman" panose="02020603050405020304" pitchFamily="18" charset="0"/>
                        </a:rPr>
                        <a:t>Spot unusual device or access activity</a:t>
                      </a:r>
                    </a:p>
                  </a:txBody>
                  <a:tcPr anchor="ctr"/>
                </a:tc>
                <a:tc>
                  <a:txBody>
                    <a:bodyPr/>
                    <a:lstStyle/>
                    <a:p>
                      <a:pPr algn="ctr"/>
                      <a:r>
                        <a:rPr sz="1800">
                          <a:latin typeface="Times New Roman" panose="02020603050405020304" pitchFamily="18" charset="0"/>
                          <a:cs typeface="Times New Roman" panose="02020603050405020304" pitchFamily="18" charset="0"/>
                        </a:rPr>
                        <a:t>Privacy and spoofing concerns</a:t>
                      </a:r>
                    </a:p>
                  </a:txBody>
                  <a:tcPr anchor="ctr"/>
                </a:tc>
                <a:extLst>
                  <a:ext uri="{0D108BD9-81ED-4DB2-BD59-A6C34878D82A}">
                    <a16:rowId xmlns:a16="http://schemas.microsoft.com/office/drawing/2014/main" val="10001"/>
                  </a:ext>
                </a:extLst>
              </a:tr>
              <a:tr h="1839549">
                <a:tc>
                  <a:txBody>
                    <a:bodyPr/>
                    <a:lstStyle/>
                    <a:p>
                      <a:pPr algn="ctr"/>
                      <a:r>
                        <a:rPr sz="1800">
                          <a:latin typeface="Times New Roman" panose="02020603050405020304" pitchFamily="18" charset="0"/>
                          <a:cs typeface="Times New Roman" panose="02020603050405020304" pitchFamily="18" charset="0"/>
                        </a:rPr>
                        <a:t>11</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Imbalanced Data Handling</a:t>
                      </a:r>
                    </a:p>
                  </a:txBody>
                  <a:tcPr anchor="ctr"/>
                </a:tc>
                <a:tc>
                  <a:txBody>
                    <a:bodyPr/>
                    <a:lstStyle/>
                    <a:p>
                      <a:pPr algn="ctr"/>
                      <a:r>
                        <a:rPr sz="1800" dirty="0">
                          <a:latin typeface="Times New Roman" panose="02020603050405020304" pitchFamily="18" charset="0"/>
                          <a:cs typeface="Times New Roman" panose="02020603050405020304" pitchFamily="18" charset="0"/>
                        </a:rPr>
                        <a:t>Sampling, class weights, metrics</a:t>
                      </a:r>
                    </a:p>
                  </a:txBody>
                  <a:tcPr anchor="ctr"/>
                </a:tc>
                <a:tc>
                  <a:txBody>
                    <a:bodyPr/>
                    <a:lstStyle/>
                    <a:p>
                      <a:pPr algn="ctr"/>
                      <a:r>
                        <a:rPr sz="1800" dirty="0">
                          <a:latin typeface="Times New Roman" panose="02020603050405020304" pitchFamily="18" charset="0"/>
                          <a:cs typeface="Times New Roman" panose="02020603050405020304" pitchFamily="18" charset="0"/>
                        </a:rPr>
                        <a:t>Fraud-heavy imbalanced datasets</a:t>
                      </a:r>
                    </a:p>
                  </a:txBody>
                  <a:tcPr anchor="ctr"/>
                </a:tc>
                <a:tc>
                  <a:txBody>
                    <a:bodyPr/>
                    <a:lstStyle/>
                    <a:p>
                      <a:pPr algn="ctr"/>
                      <a:r>
                        <a:rPr sz="1800" dirty="0">
                          <a:latin typeface="Times New Roman" panose="02020603050405020304" pitchFamily="18" charset="0"/>
                          <a:cs typeface="Times New Roman" panose="02020603050405020304" pitchFamily="18" charset="0"/>
                        </a:rPr>
                        <a:t>Improve learning from rare fraud cases</a:t>
                      </a:r>
                    </a:p>
                  </a:txBody>
                  <a:tcPr anchor="ctr"/>
                </a:tc>
                <a:tc>
                  <a:txBody>
                    <a:bodyPr/>
                    <a:lstStyle/>
                    <a:p>
                      <a:pPr algn="ctr"/>
                      <a:r>
                        <a:rPr sz="1800" dirty="0">
                          <a:latin typeface="Times New Roman" panose="02020603050405020304" pitchFamily="18" charset="0"/>
                          <a:cs typeface="Times New Roman" panose="02020603050405020304" pitchFamily="18" charset="0"/>
                        </a:rPr>
                        <a:t>May increase false alarms</a:t>
                      </a:r>
                    </a:p>
                  </a:txBody>
                  <a:tcPr anchor="ctr"/>
                </a:tc>
                <a:extLst>
                  <a:ext uri="{0D108BD9-81ED-4DB2-BD59-A6C34878D82A}">
                    <a16:rowId xmlns:a16="http://schemas.microsoft.com/office/drawing/2014/main" val="10002"/>
                  </a:ext>
                </a:extLst>
              </a:tr>
              <a:tr h="1538810">
                <a:tc>
                  <a:txBody>
                    <a:bodyPr/>
                    <a:lstStyle/>
                    <a:p>
                      <a:pPr algn="ctr"/>
                      <a:r>
                        <a:rPr sz="1800">
                          <a:latin typeface="Times New Roman" panose="02020603050405020304" pitchFamily="18" charset="0"/>
                          <a:cs typeface="Times New Roman" panose="02020603050405020304" pitchFamily="18" charset="0"/>
                        </a:rPr>
                        <a:t>12</a:t>
                      </a:r>
                    </a:p>
                  </a:txBody>
                  <a:tcPr marL="18302" marR="18302" marT="16014" marB="16014" anchor="ctr"/>
                </a:tc>
                <a:tc>
                  <a:txBody>
                    <a:bodyPr/>
                    <a:lstStyle/>
                    <a:p>
                      <a:pPr algn="ctr"/>
                      <a:r>
                        <a:rPr sz="1800">
                          <a:latin typeface="Times New Roman" panose="02020603050405020304" pitchFamily="18" charset="0"/>
                          <a:cs typeface="Times New Roman" panose="02020603050405020304" pitchFamily="18" charset="0"/>
                        </a:rPr>
                        <a:t>Explainable Fraud Detection</a:t>
                      </a:r>
                    </a:p>
                  </a:txBody>
                  <a:tcPr anchor="ctr"/>
                </a:tc>
                <a:tc>
                  <a:txBody>
                    <a:bodyPr/>
                    <a:lstStyle/>
                    <a:p>
                      <a:pPr algn="ctr"/>
                      <a:r>
                        <a:rPr sz="1800">
                          <a:latin typeface="Times New Roman" panose="02020603050405020304" pitchFamily="18" charset="0"/>
                          <a:cs typeface="Times New Roman" panose="02020603050405020304" pitchFamily="18" charset="0"/>
                        </a:rPr>
                        <a:t>Feature importance, explainable AI</a:t>
                      </a:r>
                    </a:p>
                  </a:txBody>
                  <a:tcPr anchor="ctr"/>
                </a:tc>
                <a:tc>
                  <a:txBody>
                    <a:bodyPr/>
                    <a:lstStyle/>
                    <a:p>
                      <a:pPr algn="ctr"/>
                      <a:r>
                        <a:rPr sz="1800">
                          <a:latin typeface="Times New Roman" panose="02020603050405020304" pitchFamily="18" charset="0"/>
                          <a:cs typeface="Times New Roman" panose="02020603050405020304" pitchFamily="18" charset="0"/>
                        </a:rPr>
                        <a:t>Model outputs and transaction features</a:t>
                      </a:r>
                    </a:p>
                  </a:txBody>
                  <a:tcPr anchor="ctr"/>
                </a:tc>
                <a:tc>
                  <a:txBody>
                    <a:bodyPr/>
                    <a:lstStyle/>
                    <a:p>
                      <a:pPr algn="ctr"/>
                      <a:r>
                        <a:rPr sz="1800">
                          <a:latin typeface="Times New Roman" panose="02020603050405020304" pitchFamily="18" charset="0"/>
                          <a:cs typeface="Times New Roman" panose="02020603050405020304" pitchFamily="18" charset="0"/>
                        </a:rPr>
                        <a:t>Explain why a transaction was flagged</a:t>
                      </a:r>
                    </a:p>
                  </a:txBody>
                  <a:tcPr anchor="ctr"/>
                </a:tc>
                <a:tc>
                  <a:txBody>
                    <a:bodyPr/>
                    <a:lstStyle/>
                    <a:p>
                      <a:pPr algn="ctr"/>
                      <a:r>
                        <a:rPr sz="1800" dirty="0">
                          <a:latin typeface="Times New Roman" panose="02020603050405020304" pitchFamily="18" charset="0"/>
                          <a:cs typeface="Times New Roman" panose="02020603050405020304" pitchFamily="18" charset="0"/>
                        </a:rPr>
                        <a:t>Explanations may be imperfect</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3. Information to Seminar Topic</a:t>
            </a: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000" dirty="0"/>
              <a:t>Technology: Artificial Intelligence and Machine Learning</a:t>
            </a:r>
          </a:p>
          <a:p>
            <a:endParaRPr sz="2000" dirty="0"/>
          </a:p>
          <a:p>
            <a:r>
              <a:rPr sz="2000" dirty="0"/>
              <a:t>Main Purpose: Detect potentially fraudulent UPI payments.</a:t>
            </a:r>
          </a:p>
          <a:p>
            <a:endParaRPr sz="2000" dirty="0"/>
          </a:p>
          <a:p>
            <a:r>
              <a:rPr sz="2000" dirty="0"/>
              <a:t>Key Concept: </a:t>
            </a:r>
            <a:r>
              <a:rPr sz="2000" dirty="0" err="1"/>
              <a:t>Analyse</a:t>
            </a:r>
            <a:r>
              <a:rPr sz="2000" dirty="0"/>
              <a:t> transaction patterns and user </a:t>
            </a:r>
            <a:r>
              <a:rPr sz="2000" dirty="0" err="1"/>
              <a:t>behaviour</a:t>
            </a:r>
            <a:r>
              <a:rPr sz="2000" dirty="0"/>
              <a:t>.</a:t>
            </a:r>
          </a:p>
          <a:p>
            <a:endParaRPr sz="2000" dirty="0"/>
          </a:p>
          <a:p>
            <a:r>
              <a:rPr sz="2000" dirty="0"/>
              <a:t>Approach: Extract features, score transaction risk and flag anomalies.</a:t>
            </a:r>
          </a:p>
          <a:p>
            <a:endParaRPr sz="2000" dirty="0"/>
          </a:p>
          <a:p>
            <a:r>
              <a:rPr sz="2000" dirty="0"/>
              <a:t>Main Benefit: Earlier warnings and fewer missed suspicious transactions.</a:t>
            </a:r>
          </a:p>
          <a:p>
            <a:endParaRPr sz="2000" dirty="0"/>
          </a:p>
          <a:p>
            <a:r>
              <a:rPr sz="2000" dirty="0"/>
              <a:t>Application: Payment platforms, banks and fraud monitoring teams.</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4. Advantages / Disadvantages</a:t>
            </a: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r>
              <a:rPr sz="1600" b="1" dirty="0"/>
              <a:t>Advantages</a:t>
            </a:r>
          </a:p>
          <a:p>
            <a:endParaRPr sz="1600" dirty="0"/>
          </a:p>
          <a:p>
            <a:r>
              <a:rPr sz="1600" dirty="0"/>
              <a:t>Detects unusual transaction patterns quickly.</a:t>
            </a:r>
          </a:p>
          <a:p>
            <a:endParaRPr sz="1600" dirty="0"/>
          </a:p>
          <a:p>
            <a:r>
              <a:rPr sz="1600" dirty="0"/>
              <a:t>Can adapt to emerging fraud trends when retrained.</a:t>
            </a:r>
          </a:p>
          <a:p>
            <a:endParaRPr sz="1600" dirty="0"/>
          </a:p>
          <a:p>
            <a:r>
              <a:rPr sz="1600" dirty="0"/>
              <a:t>Supports real-time risk scoring and alerts.</a:t>
            </a:r>
          </a:p>
          <a:p>
            <a:endParaRPr sz="1600" dirty="0"/>
          </a:p>
          <a:p>
            <a:r>
              <a:rPr sz="1600" dirty="0"/>
              <a:t>Can reduce manual review workload.</a:t>
            </a:r>
          </a:p>
          <a:p>
            <a:endParaRPr sz="1600" dirty="0"/>
          </a:p>
          <a:p>
            <a:r>
              <a:rPr sz="1600" b="1" dirty="0"/>
              <a:t>Disadvantages</a:t>
            </a:r>
          </a:p>
          <a:p>
            <a:endParaRPr sz="1600" dirty="0"/>
          </a:p>
          <a:p>
            <a:r>
              <a:rPr sz="1600" dirty="0"/>
              <a:t>Needs reliable and representative data.</a:t>
            </a:r>
          </a:p>
          <a:p>
            <a:endParaRPr sz="1600" dirty="0"/>
          </a:p>
          <a:p>
            <a:r>
              <a:rPr sz="1600" dirty="0"/>
              <a:t>False alerts may inconvenience genuine users.</a:t>
            </a:r>
          </a:p>
          <a:p>
            <a:endParaRPr sz="1600" dirty="0"/>
          </a:p>
          <a:p>
            <a:r>
              <a:rPr sz="1600" dirty="0"/>
              <a:t>Fraud patterns and attacker methods keep changing.</a:t>
            </a:r>
          </a:p>
          <a:p>
            <a:endParaRPr sz="1600" dirty="0"/>
          </a:p>
          <a:p>
            <a:pPr marL="114300" indent="0">
              <a:buNone/>
            </a:pPr>
            <a:endParaRPr sz="1600" dirty="0"/>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5. Conclusion</a:t>
            </a: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400" dirty="0"/>
              <a:t>AI-based fraud detection can help make UPI payments safer by learning patterns from transaction data and identifying unusual activity.</a:t>
            </a:r>
            <a:endParaRPr lang="en-IN" sz="2400" dirty="0"/>
          </a:p>
          <a:p>
            <a:r>
              <a:rPr sz="2400" dirty="0"/>
              <a:t> Machine Learning models can support risk scoring and alert payment providers before or after a suspicious payment. The system's effectiveness depends on good data, regular model updates, secure handling of information and evaluation of false positives and false negatives.</a:t>
            </a:r>
            <a:endParaRPr lang="en-IN" sz="2400" dirty="0"/>
          </a:p>
          <a:p>
            <a:r>
              <a:rPr sz="2400" dirty="0"/>
              <a:t> AI should support existing security controls rather than replace user verification and responsible review.</a:t>
            </a: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6. Project Initiation</a:t>
            </a:r>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400" dirty="0"/>
              <a:t>The project is initiated to address the risk of fraudulent UPI transactions and the limitations of detecting every new scam using fixed rules alone.</a:t>
            </a:r>
            <a:endParaRPr lang="en-IN" sz="2400" dirty="0"/>
          </a:p>
          <a:p>
            <a:r>
              <a:rPr sz="2400" dirty="0"/>
              <a:t> It proposes an AI/ML approach that analyses transaction features, learns typical patterns and flags activity that appears suspicious.</a:t>
            </a:r>
            <a:endParaRPr lang="en-IN" sz="2400" dirty="0"/>
          </a:p>
          <a:p>
            <a:r>
              <a:rPr sz="2400" dirty="0"/>
              <a:t> The project will study suitable algorithms, data requirements, evaluation measures and the need for privacy and security. The expected outcome is a conceptual fraud-detection workflow that can help payment teams </a:t>
            </a:r>
            <a:r>
              <a:rPr sz="2400" dirty="0" err="1"/>
              <a:t>prioritise</a:t>
            </a:r>
            <a:r>
              <a:rPr sz="2400" dirty="0"/>
              <a:t> risky cases.</a:t>
            </a: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rPr sz="4000" dirty="0"/>
              <a:t>6.1 Description of Problem Statement</a:t>
            </a:r>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400" dirty="0"/>
              <a:t>UPI payments are fast and convenient, but users may face phishing, social engineering, fake collect requests and </a:t>
            </a:r>
            <a:r>
              <a:rPr sz="2400" dirty="0" err="1"/>
              <a:t>unauthorised</a:t>
            </a:r>
            <a:r>
              <a:rPr sz="2400" dirty="0"/>
              <a:t> transactions.</a:t>
            </a:r>
            <a:endParaRPr lang="en-IN" sz="2400" dirty="0"/>
          </a:p>
          <a:p>
            <a:r>
              <a:rPr sz="2400" dirty="0"/>
              <a:t> Fixed rules may not detect every new fraud pattern and manual investigation can take time. The problem is to identify suspicious transactions accurately and quickly while avoiding unnecessary interruption of genuine payments.</a:t>
            </a:r>
            <a:endParaRPr lang="en-IN" sz="2400" dirty="0"/>
          </a:p>
          <a:p>
            <a:r>
              <a:rPr sz="2400" dirty="0"/>
              <a:t> An AI-based approach can </a:t>
            </a:r>
            <a:r>
              <a:rPr sz="2400" dirty="0" err="1"/>
              <a:t>analyse</a:t>
            </a:r>
            <a:r>
              <a:rPr sz="2400" dirty="0"/>
              <a:t> transaction patterns and generate risk alerts for further verification.</a:t>
            </a: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6.2 Scope and Objectives</a:t>
            </a:r>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000" b="1" dirty="0"/>
              <a:t>Objectives</a:t>
            </a:r>
          </a:p>
          <a:p>
            <a:r>
              <a:rPr sz="2000" dirty="0"/>
              <a:t>- Study common UPI fraud patterns.</a:t>
            </a:r>
          </a:p>
          <a:p>
            <a:r>
              <a:rPr sz="2000" dirty="0"/>
              <a:t>- Identify useful transaction features.</a:t>
            </a:r>
          </a:p>
          <a:p>
            <a:r>
              <a:rPr sz="2000" dirty="0"/>
              <a:t>- Explore ML methods for fraud classification.</a:t>
            </a:r>
          </a:p>
          <a:p>
            <a:r>
              <a:rPr sz="2000" dirty="0"/>
              <a:t>- Flag unusual payments using a risk score.</a:t>
            </a:r>
          </a:p>
          <a:p>
            <a:r>
              <a:rPr sz="2000" dirty="0"/>
              <a:t>- Evaluate precision, recall and false alarms.</a:t>
            </a:r>
          </a:p>
          <a:p>
            <a:endParaRPr sz="2000" dirty="0"/>
          </a:p>
          <a:p>
            <a:r>
              <a:rPr sz="2000" b="1" dirty="0"/>
              <a:t>Scope</a:t>
            </a:r>
          </a:p>
          <a:p>
            <a:r>
              <a:rPr sz="2000" dirty="0"/>
              <a:t>- Focus on analysis of UPI transaction patterns.</a:t>
            </a:r>
          </a:p>
          <a:p>
            <a:r>
              <a:rPr sz="2000" dirty="0"/>
              <a:t>- Use </a:t>
            </a:r>
            <a:r>
              <a:rPr sz="2000" dirty="0" err="1"/>
              <a:t>authorised</a:t>
            </a:r>
            <a:r>
              <a:rPr sz="2000" dirty="0"/>
              <a:t> or </a:t>
            </a:r>
            <a:r>
              <a:rPr sz="2000" dirty="0" err="1"/>
              <a:t>anonymised</a:t>
            </a:r>
            <a:r>
              <a:rPr sz="2000" dirty="0"/>
              <a:t> sample data.</a:t>
            </a:r>
          </a:p>
          <a:p>
            <a:r>
              <a:rPr sz="2000" dirty="0"/>
              <a:t>- Compare rule-based and AI-based approaches.</a:t>
            </a:r>
          </a:p>
          <a:p>
            <a:r>
              <a:rPr sz="2000" dirty="0"/>
              <a:t>- Provide alerts for review, not automatic accusations.</a:t>
            </a:r>
          </a:p>
          <a:p>
            <a:r>
              <a:rPr sz="2000" dirty="0"/>
              <a:t>- Consider privacy, security and model updates.</a:t>
            </a:r>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6.3 Stakeholders</a:t>
            </a:r>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0000" lnSpcReduction="20000"/>
          </a:bodyPr>
          <a:lstStyle/>
          <a:p>
            <a:r>
              <a:rPr dirty="0"/>
              <a:t>UPI Users: Need safe payments and clear alerts.</a:t>
            </a:r>
          </a:p>
          <a:p>
            <a:endParaRPr dirty="0"/>
          </a:p>
          <a:p>
            <a:r>
              <a:rPr dirty="0"/>
              <a:t>Banks and Payment Apps: Monitor and investigate suspicious transactions.</a:t>
            </a:r>
          </a:p>
          <a:p>
            <a:endParaRPr dirty="0"/>
          </a:p>
          <a:p>
            <a:r>
              <a:rPr dirty="0"/>
              <a:t>NPCI / Payment Ecosystem: Maintain secure and reliable UPI services.</a:t>
            </a:r>
          </a:p>
          <a:p>
            <a:endParaRPr dirty="0"/>
          </a:p>
          <a:p>
            <a:r>
              <a:rPr dirty="0"/>
              <a:t>Fraud Analysts: Review flagged activity and investigate cases.</a:t>
            </a:r>
          </a:p>
          <a:p>
            <a:endParaRPr dirty="0"/>
          </a:p>
          <a:p>
            <a:r>
              <a:rPr dirty="0"/>
              <a:t>AI / Data Teams: Develop, test and monitor detection models.</a:t>
            </a:r>
          </a:p>
          <a:p>
            <a:endParaRPr dirty="0"/>
          </a:p>
          <a:p>
            <a:r>
              <a:rPr dirty="0"/>
              <a:t>Security and Compliance Teams: Protect data and ensure responsible use.</a:t>
            </a: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6.4 Seminar Execution Plan</a:t>
            </a:r>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0000" lnSpcReduction="20000"/>
          </a:bodyPr>
          <a:lstStyle/>
          <a:p>
            <a:r>
              <a:rPr dirty="0"/>
              <a:t>1. Current Scenario: UPI supports instant digital payments.</a:t>
            </a:r>
          </a:p>
          <a:p>
            <a:endParaRPr dirty="0"/>
          </a:p>
          <a:p>
            <a:r>
              <a:rPr dirty="0"/>
              <a:t>2. Problem: Scams and </a:t>
            </a:r>
            <a:r>
              <a:rPr dirty="0" err="1"/>
              <a:t>unauthorised</a:t>
            </a:r>
            <a:r>
              <a:rPr dirty="0"/>
              <a:t> payments can cause losses.</a:t>
            </a:r>
          </a:p>
          <a:p>
            <a:endParaRPr dirty="0"/>
          </a:p>
          <a:p>
            <a:r>
              <a:rPr dirty="0"/>
              <a:t>3. Existing Approach: Rules, limits, alerts and manual review.</a:t>
            </a:r>
          </a:p>
          <a:p>
            <a:endParaRPr dirty="0"/>
          </a:p>
          <a:p>
            <a:r>
              <a:rPr dirty="0"/>
              <a:t>4. Research Gap: New fraud patterns may bypass fixed rules.</a:t>
            </a:r>
          </a:p>
          <a:p>
            <a:endParaRPr dirty="0"/>
          </a:p>
          <a:p>
            <a:r>
              <a:rPr dirty="0"/>
              <a:t>5. Proposed Study: Apply ML to transaction features and risk scoring.</a:t>
            </a:r>
          </a:p>
          <a:p>
            <a:endParaRPr dirty="0"/>
          </a:p>
          <a:p>
            <a:r>
              <a:rPr dirty="0"/>
              <a:t>6. Evaluation: Check precision, recall and false-positive rate.</a:t>
            </a:r>
          </a:p>
          <a:p>
            <a:endParaRPr dirty="0"/>
          </a:p>
          <a:p>
            <a:r>
              <a:rPr dirty="0"/>
              <a:t>7. Future Work: Test with approved data and improve real-time alerts.</a:t>
            </a: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182450"/>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r>
              <a:t>6.5 Platform / Equipment / Resources</a:t>
            </a:r>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r>
              <a:rPr sz="2000" dirty="0"/>
              <a:t>Hardware Requirements:</a:t>
            </a:r>
          </a:p>
          <a:p>
            <a:r>
              <a:rPr sz="2000" dirty="0"/>
              <a:t>- Laptop or desktop computer.</a:t>
            </a:r>
          </a:p>
          <a:p>
            <a:r>
              <a:rPr sz="2000" dirty="0"/>
              <a:t>- 4 GB RAM minimum; 8 GB recommended.</a:t>
            </a:r>
          </a:p>
          <a:p>
            <a:r>
              <a:rPr sz="2000" dirty="0"/>
              <a:t>- Internet connection.</a:t>
            </a:r>
          </a:p>
          <a:p>
            <a:endParaRPr sz="2000" dirty="0"/>
          </a:p>
          <a:p>
            <a:r>
              <a:rPr sz="2000" dirty="0"/>
              <a:t>Software / Tools:</a:t>
            </a:r>
          </a:p>
          <a:p>
            <a:r>
              <a:rPr sz="2000" dirty="0"/>
              <a:t>- Python and Jupyter Notebook.</a:t>
            </a:r>
          </a:p>
          <a:p>
            <a:r>
              <a:rPr sz="2000" dirty="0"/>
              <a:t>- Pandas and NumPy for data handling.</a:t>
            </a:r>
          </a:p>
          <a:p>
            <a:r>
              <a:rPr sz="2000" dirty="0"/>
              <a:t>- Scikit-learn for ML algorithms.</a:t>
            </a:r>
          </a:p>
          <a:p>
            <a:r>
              <a:rPr sz="2000" dirty="0"/>
              <a:t>- Matplotlib / Seaborn for analysis.</a:t>
            </a:r>
          </a:p>
          <a:p>
            <a:endParaRPr sz="2000" dirty="0"/>
          </a:p>
          <a:p>
            <a:r>
              <a:rPr sz="2000" dirty="0"/>
              <a:t>Other Resources:</a:t>
            </a:r>
          </a:p>
          <a:p>
            <a:r>
              <a:rPr sz="2000" dirty="0"/>
              <a:t>- Public or </a:t>
            </a:r>
            <a:r>
              <a:rPr sz="2000" dirty="0" err="1"/>
              <a:t>anonymised</a:t>
            </a:r>
            <a:r>
              <a:rPr sz="2000" dirty="0"/>
              <a:t> transaction dataset.</a:t>
            </a:r>
          </a:p>
          <a:p>
            <a:r>
              <a:rPr sz="2000" dirty="0"/>
              <a:t>- Model evaluation and testing tools.</a:t>
            </a:r>
          </a:p>
          <a:p>
            <a:r>
              <a:rPr sz="2000" dirty="0"/>
              <a:t>- Secure data storage and documentation.</a:t>
            </a: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Bibliography</a:t>
            </a: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400" b="1" dirty="0"/>
              <a:t>Books</a:t>
            </a:r>
          </a:p>
          <a:p>
            <a:r>
              <a:rPr sz="2400" dirty="0"/>
              <a:t>1. Hands-On Machine Learning — Aurélien </a:t>
            </a:r>
            <a:r>
              <a:rPr sz="2400" dirty="0" err="1"/>
              <a:t>Géron</a:t>
            </a:r>
            <a:r>
              <a:rPr sz="2400" dirty="0"/>
              <a:t>.</a:t>
            </a:r>
          </a:p>
          <a:p>
            <a:r>
              <a:rPr sz="2400" dirty="0"/>
              <a:t>2. Data Mining: Concepts and Techniques — Han, Kamber and Pei.</a:t>
            </a:r>
          </a:p>
          <a:p>
            <a:endParaRPr sz="2400" dirty="0"/>
          </a:p>
          <a:p>
            <a:r>
              <a:rPr sz="2400" b="1" dirty="0"/>
              <a:t>Online Documentation</a:t>
            </a:r>
          </a:p>
          <a:p>
            <a:r>
              <a:rPr sz="2400" dirty="0"/>
              <a:t>3. Scikit-learn User Guide.</a:t>
            </a:r>
          </a:p>
          <a:p>
            <a:r>
              <a:rPr sz="2400" dirty="0"/>
              <a:t>4. Python Documentation.</a:t>
            </a:r>
          </a:p>
          <a:p>
            <a:r>
              <a:rPr sz="2400" dirty="0"/>
              <a:t>5. Reserve Bank of India — Digital Payments resources.</a:t>
            </a:r>
          </a:p>
          <a:p>
            <a:r>
              <a:rPr sz="2400" dirty="0"/>
              <a:t>6. NPCI — UPI product and safety information.</a:t>
            </a:r>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r>
              <a:t>References</a:t>
            </a:r>
          </a:p>
        </p:txBody>
      </p:sp>
      <p:sp>
        <p:nvSpPr>
          <p:cNvPr id="609" name="Google Shape;609;p28"/>
          <p:cNvSpPr txBox="1">
            <a:spLocks noGrp="1"/>
          </p:cNvSpPr>
          <p:nvPr>
            <p:ph type="body" idx="1"/>
          </p:nvPr>
        </p:nvSpPr>
        <p:spPr>
          <a:xfrm>
            <a:off x="457200" y="1219200"/>
            <a:ext cx="8229600" cy="5638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sz="2400" dirty="0"/>
              <a:t>Research / Technical Resources</a:t>
            </a:r>
          </a:p>
          <a:p>
            <a:pPr marL="114300" indent="0">
              <a:buNone/>
            </a:pPr>
            <a:r>
              <a:rPr sz="2400" dirty="0"/>
              <a:t>1. Research on machine-learning-based financial fraud detection.</a:t>
            </a:r>
          </a:p>
          <a:p>
            <a:pPr marL="114300" indent="0">
              <a:buNone/>
            </a:pPr>
            <a:r>
              <a:rPr sz="2400" dirty="0"/>
              <a:t>2. Studies of anomaly detection in digital payments.</a:t>
            </a:r>
          </a:p>
          <a:p>
            <a:pPr marL="114300" indent="0">
              <a:buNone/>
            </a:pPr>
            <a:r>
              <a:rPr sz="2400" dirty="0"/>
              <a:t>3. Scikit-learn documentation — classification and metrics.</a:t>
            </a:r>
          </a:p>
          <a:p>
            <a:pPr marL="114300" indent="0">
              <a:buNone/>
            </a:pPr>
            <a:r>
              <a:rPr sz="2400" dirty="0"/>
              <a:t>4. Python documentation — data processing.</a:t>
            </a:r>
          </a:p>
          <a:p>
            <a:pPr marL="114300" indent="0">
              <a:buNone/>
            </a:pPr>
            <a:r>
              <a:rPr sz="2400" dirty="0"/>
              <a:t>5. Reserve Bank of India — payment system and safety publications.</a:t>
            </a:r>
          </a:p>
          <a:p>
            <a:pPr marL="114300" indent="0">
              <a:buNone/>
            </a:pPr>
            <a:r>
              <a:rPr sz="2400" dirty="0"/>
              <a:t>6. National Payments Corporation of India — UPI information.</a:t>
            </a:r>
          </a:p>
          <a:p>
            <a:pPr marL="114300" indent="0">
              <a:buNone/>
            </a:pPr>
            <a:r>
              <a:rPr sz="2400" dirty="0"/>
              <a:t>7. Use only </a:t>
            </a:r>
            <a:r>
              <a:rPr sz="2400" dirty="0" err="1"/>
              <a:t>authorised</a:t>
            </a:r>
            <a:r>
              <a:rPr sz="2400" dirty="0"/>
              <a:t>, </a:t>
            </a:r>
            <a:r>
              <a:rPr sz="2400" dirty="0" err="1"/>
              <a:t>anonymised</a:t>
            </a:r>
            <a:r>
              <a:rPr sz="2400" dirty="0"/>
              <a:t> datasets for testing.</a:t>
            </a: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28850"/>
            <a:ext cx="6248400" cy="1187338"/>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algn="ctr"/>
            <a:r>
              <a:rPr sz="4000" b="1" dirty="0">
                <a:latin typeface="Times New Roman" panose="02020603050405020304" pitchFamily="18" charset="0"/>
                <a:cs typeface="Times New Roman" panose="02020603050405020304" pitchFamily="18" charset="0"/>
              </a:rPr>
              <a:t>Thank You</a:t>
            </a: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1477</Words>
  <Application>Microsoft Office PowerPoint</Application>
  <PresentationFormat>On-screen Show (4:3)</PresentationFormat>
  <Paragraphs>288</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Contents</vt:lpstr>
      <vt:lpstr>Abstract</vt:lpstr>
      <vt:lpstr>1. Introduction</vt:lpstr>
      <vt:lpstr>2. Literature Survey</vt:lpstr>
      <vt:lpstr>PowerPoint Presentation</vt:lpstr>
      <vt:lpstr>PowerPoint Presentation</vt:lpstr>
      <vt:lpstr>PowerPoint Presentation</vt:lpstr>
      <vt:lpstr>3. Information to Seminar Topic</vt:lpstr>
      <vt:lpstr>4. Advantages / Disadvantages</vt:lpstr>
      <vt:lpstr>5. Conclusion</vt:lpstr>
      <vt:lpstr>6. Project Initiation</vt:lpstr>
      <vt:lpstr>6.1 Description of Problem Statement</vt:lpstr>
      <vt:lpstr>6.2 Scope and Objectives</vt:lpstr>
      <vt:lpstr>6.3 Stakeholders</vt:lpstr>
      <vt:lpstr>6.4 Seminar Execution Plan</vt:lpstr>
      <vt:lpstr>6.5 Platform / Equipment / Resources</vt:lpstr>
      <vt:lpstr>Bibliography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vijaysing rajput</cp:lastModifiedBy>
  <cp:revision>14</cp:revision>
  <dcterms:created xsi:type="dcterms:W3CDTF">2026-10-18T09:42:40Z</dcterms:created>
  <dcterms:modified xsi:type="dcterms:W3CDTF">2026-10-19T05:41:04Z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587A58D97BCE4A21BC3BDD3E4FD218D9_13</vt:lpwstr>
  </property>
</Properties>
</file>